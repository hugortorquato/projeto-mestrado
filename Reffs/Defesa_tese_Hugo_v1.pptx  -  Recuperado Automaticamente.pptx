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B2_FAC492B6.xml" ContentType="application/vnd.ms-powerpoint.comments+xml"/>
  <Override PartName="/ppt/notesSlides/notesSlide4.xml" ContentType="application/vnd.openxmlformats-officedocument.presentationml.notesSlide+xml"/>
  <Override PartName="/ppt/comments/modernComment_1B3_209F523D.xml" ContentType="application/vnd.ms-powerpoint.comments+xml"/>
  <Override PartName="/ppt/notesSlides/notesSlide5.xml" ContentType="application/vnd.openxmlformats-officedocument.presentationml.notesSlide+xml"/>
  <Override PartName="/ppt/comments/modernComment_1B4_55676714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B6_8B68E559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B9_689DB3CE.xml" ContentType="application/vnd.ms-powerpoint.comments+xml"/>
  <Override PartName="/ppt/notesSlides/notesSlide10.xml" ContentType="application/vnd.openxmlformats-officedocument.presentationml.notesSlide+xml"/>
  <Override PartName="/ppt/comments/modernComment_1BB_C2D0F9B2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BF_3FEEED81.xml" ContentType="application/vnd.ms-powerpoint.comments+xml"/>
  <Override PartName="/ppt/notesSlides/notesSlide13.xml" ContentType="application/vnd.openxmlformats-officedocument.presentationml.notesSlide+xml"/>
  <Override PartName="/ppt/comments/modernComment_1BE_E49730B4.xml" ContentType="application/vnd.ms-powerpoint.comments+xml"/>
  <Override PartName="/ppt/notesSlides/notesSlide14.xml" ContentType="application/vnd.openxmlformats-officedocument.presentationml.notesSlide+xml"/>
  <Override PartName="/ppt/comments/modernComment_1C1_3D625B0E.xml" ContentType="application/vnd.ms-powerpoint.comments+xml"/>
  <Override PartName="/ppt/notesSlides/notesSlide15.xml" ContentType="application/vnd.openxmlformats-officedocument.presentationml.notesSlide+xml"/>
  <Override PartName="/ppt/comments/modernComment_1C2_A7AD3037.xml" ContentType="application/vnd.ms-powerpoint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1C4_E4642FAB.xml" ContentType="application/vnd.ms-powerpoint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modernComment_1C9_D29232A9.xml" ContentType="application/vnd.ms-powerpoint.comments+xml"/>
  <Override PartName="/ppt/notesSlides/notesSlide21.xml" ContentType="application/vnd.openxmlformats-officedocument.presentationml.notesSlide+xml"/>
  <Override PartName="/ppt/comments/modernComment_1CA_CE1B3DDE.xml" ContentType="application/vnd.ms-powerpoint.comment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omments/modernComment_1D0_F31A7A55.xml" ContentType="application/vnd.ms-powerpoint.comment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omments/modernComment_1D2_488C83B5.xml" ContentType="application/vnd.ms-powerpoint.comment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omments/modernComment_1DC_4F6C08C0.xml" ContentType="application/vnd.ms-powerpoint.comments+xml"/>
  <Override PartName="/ppt/notesSlides/notesSlide36.xml" ContentType="application/vnd.openxmlformats-officedocument.presentationml.notesSlide+xml"/>
  <Override PartName="/ppt/comments/modernComment_1DD_704F6D4A.xml" ContentType="application/vnd.ms-powerpoint.comment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omments/modernComment_1E5_8D5CDA17.xml" ContentType="application/vnd.ms-powerpoint.comment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omments/modernComment_1C8_6D1F58C7.xml" ContentType="application/vnd.ms-powerpoint.comments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notesMasterIdLst>
    <p:notesMasterId r:id="rId54"/>
  </p:notesMasterIdLst>
  <p:handoutMasterIdLst>
    <p:handoutMasterId r:id="rId55"/>
  </p:handoutMasterIdLst>
  <p:sldIdLst>
    <p:sldId id="256" r:id="rId2"/>
    <p:sldId id="392" r:id="rId3"/>
    <p:sldId id="434" r:id="rId4"/>
    <p:sldId id="435" r:id="rId5"/>
    <p:sldId id="436" r:id="rId6"/>
    <p:sldId id="437" r:id="rId7"/>
    <p:sldId id="438" r:id="rId8"/>
    <p:sldId id="439" r:id="rId9"/>
    <p:sldId id="441" r:id="rId10"/>
    <p:sldId id="443" r:id="rId11"/>
    <p:sldId id="445" r:id="rId12"/>
    <p:sldId id="447" r:id="rId13"/>
    <p:sldId id="446" r:id="rId14"/>
    <p:sldId id="449" r:id="rId15"/>
    <p:sldId id="450" r:id="rId16"/>
    <p:sldId id="451" r:id="rId17"/>
    <p:sldId id="452" r:id="rId18"/>
    <p:sldId id="453" r:id="rId19"/>
    <p:sldId id="454" r:id="rId20"/>
    <p:sldId id="457" r:id="rId21"/>
    <p:sldId id="458" r:id="rId22"/>
    <p:sldId id="459" r:id="rId23"/>
    <p:sldId id="460" r:id="rId24"/>
    <p:sldId id="461" r:id="rId25"/>
    <p:sldId id="463" r:id="rId26"/>
    <p:sldId id="464" r:id="rId27"/>
    <p:sldId id="465" r:id="rId28"/>
    <p:sldId id="466" r:id="rId29"/>
    <p:sldId id="467" r:id="rId30"/>
    <p:sldId id="468" r:id="rId31"/>
    <p:sldId id="469" r:id="rId32"/>
    <p:sldId id="472" r:id="rId33"/>
    <p:sldId id="473" r:id="rId34"/>
    <p:sldId id="474" r:id="rId35"/>
    <p:sldId id="476" r:id="rId36"/>
    <p:sldId id="477" r:id="rId37"/>
    <p:sldId id="483" r:id="rId38"/>
    <p:sldId id="485" r:id="rId39"/>
    <p:sldId id="486" r:id="rId40"/>
    <p:sldId id="487" r:id="rId41"/>
    <p:sldId id="488" r:id="rId42"/>
    <p:sldId id="490" r:id="rId43"/>
    <p:sldId id="491" r:id="rId44"/>
    <p:sldId id="492" r:id="rId45"/>
    <p:sldId id="431" r:id="rId46"/>
    <p:sldId id="440" r:id="rId47"/>
    <p:sldId id="444" r:id="rId48"/>
    <p:sldId id="448" r:id="rId49"/>
    <p:sldId id="456" r:id="rId50"/>
    <p:sldId id="462" r:id="rId51"/>
    <p:sldId id="493" r:id="rId52"/>
    <p:sldId id="494" r:id="rId53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23F747B0-CB89-44F4-8F82-3334EE39A5F5}">
          <p14:sldIdLst>
            <p14:sldId id="256"/>
            <p14:sldId id="392"/>
            <p14:sldId id="434"/>
            <p14:sldId id="435"/>
            <p14:sldId id="436"/>
            <p14:sldId id="437"/>
            <p14:sldId id="438"/>
            <p14:sldId id="439"/>
            <p14:sldId id="441"/>
            <p14:sldId id="443"/>
            <p14:sldId id="445"/>
            <p14:sldId id="447"/>
            <p14:sldId id="446"/>
            <p14:sldId id="449"/>
            <p14:sldId id="450"/>
            <p14:sldId id="451"/>
            <p14:sldId id="452"/>
            <p14:sldId id="453"/>
            <p14:sldId id="454"/>
            <p14:sldId id="457"/>
            <p14:sldId id="458"/>
            <p14:sldId id="459"/>
            <p14:sldId id="460"/>
            <p14:sldId id="461"/>
            <p14:sldId id="463"/>
            <p14:sldId id="464"/>
            <p14:sldId id="465"/>
            <p14:sldId id="466"/>
            <p14:sldId id="467"/>
            <p14:sldId id="468"/>
            <p14:sldId id="469"/>
            <p14:sldId id="472"/>
            <p14:sldId id="473"/>
            <p14:sldId id="474"/>
            <p14:sldId id="476"/>
            <p14:sldId id="477"/>
            <p14:sldId id="483"/>
            <p14:sldId id="485"/>
            <p14:sldId id="486"/>
            <p14:sldId id="487"/>
            <p14:sldId id="488"/>
            <p14:sldId id="490"/>
            <p14:sldId id="491"/>
            <p14:sldId id="492"/>
            <p14:sldId id="431"/>
            <p14:sldId id="440"/>
            <p14:sldId id="444"/>
            <p14:sldId id="448"/>
            <p14:sldId id="456"/>
            <p14:sldId id="462"/>
            <p14:sldId id="493"/>
            <p14:sldId id="4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D4F0127-4DCF-FBF5-2D42-71E883CE3884}" name="Torquato, Hugo" initials="HT" userId="S::hugo.torquato@global.komatsu::15bd468e-7ae3-4fd4-a76f-d52d7ebf4d0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84867" autoAdjust="0"/>
  </p:normalViewPr>
  <p:slideViewPr>
    <p:cSldViewPr>
      <p:cViewPr varScale="1">
        <p:scale>
          <a:sx n="114" d="100"/>
          <a:sy n="114" d="100"/>
        </p:scale>
        <p:origin x="151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498"/>
    </p:cViewPr>
  </p:sorterViewPr>
  <p:notesViewPr>
    <p:cSldViewPr>
      <p:cViewPr varScale="1">
        <p:scale>
          <a:sx n="193" d="100"/>
          <a:sy n="193" d="100"/>
        </p:scale>
        <p:origin x="1488" y="15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8/10/relationships/authors" Target="authors.xml"/></Relationships>
</file>

<file path=ppt/comments/modernComment_1B2_FAC492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7618DF-2E06-41C4-B7F7-526B6A617619}" authorId="{ED4F0127-4DCF-FBF5-2D42-71E883CE3884}" status="resolved" created="2023-10-02T22:51:48.19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07186614" sldId="434"/>
      <ac:spMk id="3" creationId="{00000000-0000-0000-0000-000000000000}"/>
      <ac:txMk cp="170" len="66">
        <ac:context len="240" hash="4266697158"/>
      </ac:txMk>
    </ac:txMkLst>
    <p188:pos x="8233379" y="1131244"/>
    <p188:txBody>
      <a:bodyPr/>
      <a:lstStyle/>
      <a:p>
        <a:r>
          <a:rPr lang="pt-BR"/>
          <a:t>Mas eu não estou utilizando....</a:t>
        </a:r>
      </a:p>
    </p188:txBody>
  </p188:cm>
</p188:cmLst>
</file>

<file path=ppt/comments/modernComment_1B3_209F523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C8AA7C7-880B-4FC8-9C75-7C6F40F1EFEA}" authorId="{ED4F0127-4DCF-FBF5-2D42-71E883CE3884}" created="2023-10-06T12:26:58.037">
    <pc:sldMkLst xmlns:pc="http://schemas.microsoft.com/office/powerpoint/2013/main/command">
      <pc:docMk/>
      <pc:sldMk cId="547312189" sldId="435"/>
    </pc:sldMkLst>
    <p188:replyLst>
      <p188:reply id="{2EDC2993-AB51-435C-88E8-5F58D4D33582}" authorId="{ED4F0127-4DCF-FBF5-2D42-71E883CE3884}" created="2023-10-06T12:27:49.052">
        <p188:txBody>
          <a:bodyPr/>
          <a:lstStyle/>
          <a:p>
            <a:r>
              <a:rPr lang="pt-BR"/>
              <a:t>Devido a maior irradiancia
</a:t>
            </a:r>
          </a:p>
        </p188:txBody>
      </p188:reply>
      <p188:reply id="{C5A18BCD-7C3D-4C2E-BB66-FB2CB588E645}" authorId="{ED4F0127-4DCF-FBF5-2D42-71E883CE3884}" created="2023-10-06T12:28:34.710">
        <p188:txBody>
          <a:bodyPr/>
          <a:lstStyle/>
          <a:p>
            <a:r>
              <a:rPr lang="pt-BR"/>
              <a:t>Não tem a informação no texto mas destacar aqui
Que locais com menos substações tem a mairo irradiaancia</a:t>
            </a:r>
          </a:p>
        </p188:txBody>
      </p188:reply>
    </p188:replyLst>
    <p188:txBody>
      <a:bodyPr/>
      <a:lstStyle/>
      <a:p>
        <a:r>
          <a:rPr lang="pt-BR"/>
          <a:t>Fonte e data
</a:t>
        </a:r>
      </a:p>
    </p188:txBody>
  </p188:cm>
</p188:cmLst>
</file>

<file path=ppt/comments/modernComment_1B4_556767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372D0C-B0F0-48CE-8940-33BA6DB37B59}" authorId="{ED4F0127-4DCF-FBF5-2D42-71E883CE3884}" status="resolved" created="2023-10-06T12:29:27.841" complete="100000">
    <pc:sldMkLst xmlns:pc="http://schemas.microsoft.com/office/powerpoint/2013/main/command">
      <pc:docMk/>
      <pc:sldMk cId="1432839956" sldId="436"/>
    </pc:sldMkLst>
    <p188:replyLst>
      <p188:reply id="{521A6E0B-218D-4A3C-A7FA-802C23D3B883}" authorId="{ED4F0127-4DCF-FBF5-2D42-71E883CE3884}" created="2023-10-06T12:29:41.066">
        <p188:txBody>
          <a:bodyPr/>
          <a:lstStyle/>
          <a:p>
            <a:r>
              <a:rPr lang="pt-BR"/>
              <a:t>Reforçar que ot rabalho engloba os 5 pontos</a:t>
            </a:r>
          </a:p>
        </p188:txBody>
      </p188:reply>
      <p188:reply id="{6C8A5E66-E8F2-4587-8A5D-17505CD78937}" authorId="{ED4F0127-4DCF-FBF5-2D42-71E883CE3884}" created="2023-10-06T12:30:23.511">
        <p188:txBody>
          <a:bodyPr/>
          <a:lstStyle/>
          <a:p>
            <a:r>
              <a:rPr lang="pt-BR"/>
              <a:t>Falar que o estado foi feito com artigos entre 2019 e 2022
</a:t>
            </a:r>
          </a:p>
        </p188:txBody>
      </p188:reply>
    </p188:replyLst>
    <p188:txBody>
      <a:bodyPr/>
      <a:lstStyle/>
      <a:p>
        <a:r>
          <a:rPr lang="pt-BR"/>
          <a:t>Foi um formato mais claro de apresentar e chegamos a ele na preparação da apresentação
</a:t>
        </a:r>
      </a:p>
    </p188:txBody>
  </p188:cm>
</p188:cmLst>
</file>

<file path=ppt/comments/modernComment_1B6_8B68E5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B5814DD-0F57-4022-828D-F5D1356C232B}" authorId="{ED4F0127-4DCF-FBF5-2D42-71E883CE3884}" status="resolved" created="2023-09-30T22:28:11.42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338907481" sldId="438"/>
      <ac:graphicFrameMk id="15" creationId="{F4EEF6DB-3473-D830-3EBA-C6C462DD7BA7}"/>
      <ac:tblMk/>
      <ac:tcMk rowId="634234141" colId="3777758980"/>
      <ac:txMk cp="0" len="9">
        <ac:context len="86" hash="3533496316"/>
      </ac:txMk>
    </ac:txMkLst>
    <p188:pos x="5609771" y="958848"/>
    <p188:txBody>
      <a:bodyPr/>
      <a:lstStyle/>
      <a:p>
        <a:r>
          <a:rPr lang="pt-BR"/>
          <a:t>Junto?
</a:t>
        </a:r>
      </a:p>
    </p188:txBody>
  </p188:cm>
  <p188:cm id="{38B5005F-A2A7-46CF-92C3-BEC8E8BD1582}" authorId="{ED4F0127-4DCF-FBF5-2D42-71E883CE3884}" status="resolved" created="2023-10-06T12:31:32.617" complete="100000">
    <pc:sldMkLst xmlns:pc="http://schemas.microsoft.com/office/powerpoint/2013/main/command">
      <pc:docMk/>
      <pc:sldMk cId="2338907481" sldId="438"/>
    </pc:sldMkLst>
    <p188:replyLst>
      <p188:reply id="{3E44E2E2-B319-4AE0-A08E-24C416E517ED}" authorId="{ED4F0127-4DCF-FBF5-2D42-71E883CE3884}" created="2023-10-06T12:31:56.874">
        <p188:txBody>
          <a:bodyPr/>
          <a:lstStyle/>
          <a:p>
            <a:r>
              <a:rPr lang="pt-BR"/>
              <a:t>Melhorar a fala para mostrar que esses são os param para definir o HC
</a:t>
            </a:r>
          </a:p>
        </p188:txBody>
      </p188:reply>
      <p188:reply id="{3A8BF187-0BE1-4650-B90A-4F2B97BEBE46}" authorId="{ED4F0127-4DCF-FBF5-2D42-71E883CE3884}" created="2023-10-06T12:32:18.406">
        <p188:txBody>
          <a:bodyPr/>
          <a:lstStyle/>
          <a:p>
            <a:r>
              <a:rPr lang="pt-BR"/>
              <a:t>Ligar com a operação n permitida do slide anterior
</a:t>
            </a:r>
          </a:p>
        </p188:txBody>
      </p188:reply>
    </p188:replyLst>
    <p188:txBody>
      <a:bodyPr/>
      <a:lstStyle/>
      <a:p>
        <a:r>
          <a:rPr lang="pt-BR"/>
          <a:t>Para que são os limites?</a:t>
        </a:r>
      </a:p>
    </p188:txBody>
  </p188:cm>
</p188:cmLst>
</file>

<file path=ppt/comments/modernComment_1B9_689DB3C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345C53D-1E8A-4DCF-A333-D7FDA5FEACC5}" authorId="{ED4F0127-4DCF-FBF5-2D42-71E883CE3884}" status="resolved" created="2023-09-30T23:29:27.01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55165646" sldId="441"/>
      <ac:spMk id="9" creationId="{F89FE55D-79A3-31EE-038E-2AE676D87E91}"/>
      <ac:txMk cp="0">
        <ac:context len="76" hash="324164412"/>
      </ac:txMk>
    </ac:txMkLst>
    <p188:pos x="1277436" y="561830"/>
    <p188:replyLst>
      <p188:reply id="{0734C71A-131D-4B69-A969-7B7CDFE8BEC8}" authorId="{ED4F0127-4DCF-FBF5-2D42-71E883CE3884}" created="2023-10-08T12:01:52.956">
        <p188:txBody>
          <a:bodyPr/>
          <a:lstStyle/>
          <a:p>
            <a:r>
              <a:rPr lang="pt-BR"/>
              <a:t>Deixa para ver se eles vão perceber</a:t>
            </a:r>
          </a:p>
        </p188:txBody>
      </p188:reply>
    </p188:replyLst>
    <p188:txBody>
      <a:bodyPr/>
      <a:lstStyle/>
      <a:p>
        <a:r>
          <a:rPr lang="pt-BR"/>
          <a:t>Está errado no texto, vão perguntar sobre</a:t>
        </a:r>
      </a:p>
    </p188:txBody>
  </p188:cm>
</p188:cmLst>
</file>

<file path=ppt/comments/modernComment_1BB_C2D0F9B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D7AFE7B-8111-4552-A26E-C7F7BB377665}" authorId="{ED4F0127-4DCF-FBF5-2D42-71E883CE3884}" created="2023-10-08T12:01:19.91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68475314" sldId="443"/>
      <ac:spMk id="5" creationId="{E9AF0C60-D2F4-13E2-73AB-A06AB0F5212C}"/>
      <ac:txMk cp="48" len="13">
        <ac:context len="63" hash="1927466294"/>
      </ac:txMk>
    </ac:txMkLst>
    <p188:pos x="3524160" y="580030"/>
    <p188:txBody>
      <a:bodyPr/>
      <a:lstStyle/>
      <a:p>
        <a:r>
          <a:rPr lang="pt-BR"/>
          <a:t>Como foi calculado?
</a:t>
        </a:r>
      </a:p>
    </p188:txBody>
  </p188:cm>
</p188:cmLst>
</file>

<file path=ppt/comments/modernComment_1BE_E49730B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4A70098-275F-47E3-B1F6-BC9848E0527E}" authorId="{ED4F0127-4DCF-FBF5-2D42-71E883CE3884}" status="resolved" created="2023-10-01T12:58:51.109" complete="100000">
    <pc:sldMkLst xmlns:pc="http://schemas.microsoft.com/office/powerpoint/2013/main/command">
      <pc:docMk/>
      <pc:sldMk cId="3835113652" sldId="446"/>
    </pc:sldMkLst>
    <p188:txBody>
      <a:bodyPr/>
      <a:lstStyle/>
      <a:p>
        <a:r>
          <a:rPr lang="pt-BR"/>
          <a:t>Colocar anumação de acordo com a explicação</a:t>
        </a:r>
      </a:p>
    </p188:txBody>
  </p188:cm>
</p188:cmLst>
</file>

<file path=ppt/comments/modernComment_1BF_3FEEED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F9C66C-2B50-4E8C-BFB3-4F2278BDA49B}" authorId="{ED4F0127-4DCF-FBF5-2D42-71E883CE3884}" status="resolved" created="2023-10-06T12:45:01.142" complete="100000">
    <pc:sldMkLst xmlns:pc="http://schemas.microsoft.com/office/powerpoint/2013/main/command">
      <pc:docMk/>
      <pc:sldMk cId="1072622977" sldId="447"/>
    </pc:sldMkLst>
    <p188:txBody>
      <a:bodyPr/>
      <a:lstStyle/>
      <a:p>
        <a:r>
          <a:rPr lang="pt-BR"/>
          <a:t>PQ n simulou o BESS?
Como simulou o BESS?
</a:t>
        </a:r>
      </a:p>
    </p188:txBody>
  </p188:cm>
</p188:cmLst>
</file>

<file path=ppt/comments/modernComment_1C1_3D625B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14F36E-F26A-4274-8E3E-B705FB044386}" authorId="{ED4F0127-4DCF-FBF5-2D42-71E883CE3884}" status="resolved" created="2023-10-06T12:46:49.812" complete="100000">
    <pc:sldMkLst xmlns:pc="http://schemas.microsoft.com/office/powerpoint/2013/main/command">
      <pc:docMk/>
      <pc:sldMk cId="1029856014" sldId="449"/>
    </pc:sldMkLst>
    <p188:replyLst>
      <p188:reply id="{72A169D2-7195-4C7E-9802-1B7F7B46FEC7}" authorId="{ED4F0127-4DCF-FBF5-2D42-71E883CE3884}" created="2023-10-06T12:47:12.051">
        <p188:txBody>
          <a:bodyPr/>
          <a:lstStyle/>
          <a:p>
            <a:r>
              <a:rPr lang="pt-BR"/>
              <a:t>13.8k - 220v</a:t>
            </a:r>
          </a:p>
        </p188:txBody>
      </p188:reply>
    </p188:replyLst>
    <p188:txBody>
      <a:bodyPr/>
      <a:lstStyle/>
      <a:p>
        <a:r>
          <a:rPr lang="pt-BR"/>
          <a:t>Passar informação do trafo no trafo
Nível de tensão da rede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3-10-08T11:58:58.319" authorId="{ED4F0127-4DCF-FBF5-2D42-71E883CE3884}"/>
          </p223:rxn>
        </p223:reactions>
      </p:ext>
    </p188:extLst>
  </p188:cm>
</p188:cmLst>
</file>

<file path=ppt/comments/modernComment_1C2_A7AD303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15F2649-1B33-49BB-A8F1-085ECFD20E84}" authorId="{ED4F0127-4DCF-FBF5-2D42-71E883CE3884}" created="2023-10-06T12:47:51.455">
    <pc:sldMkLst xmlns:pc="http://schemas.microsoft.com/office/powerpoint/2013/main/command">
      <pc:docMk/>
      <pc:sldMk cId="2813145143" sldId="450"/>
    </pc:sldMkLst>
    <p188:replyLst>
      <p188:reply id="{2BB77225-C267-4671-BD68-7095CBFDF9CE}" authorId="{ED4F0127-4DCF-FBF5-2D42-71E883CE3884}" created="2023-10-06T12:48:40.500">
        <p188:txBody>
          <a:bodyPr/>
          <a:lstStyle/>
          <a:p>
            <a:r>
              <a:rPr lang="pt-BR"/>
              <a:t>Rede fornecida pelo ricrdo</a:t>
            </a:r>
          </a:p>
        </p188:txBody>
      </p188:reply>
      <p188:reply id="{019B594D-36A2-4877-A6ED-1225EDDC1EFC}" authorId="{ED4F0127-4DCF-FBF5-2D42-71E883CE3884}" created="2023-10-06T12:49:00.449">
        <p188:txBody>
          <a:bodyPr/>
          <a:lstStyle/>
          <a:p>
            <a:r>
              <a:rPr lang="pt-BR"/>
              <a:t>Não falar nome do ricardo </a:t>
            </a:r>
          </a:p>
        </p188:txBody>
      </p188:reply>
    </p188:replyLst>
    <p188:txBody>
      <a:bodyPr/>
      <a:lstStyle/>
      <a:p>
        <a:r>
          <a:rPr lang="pt-BR"/>
          <a:t>Ricardo simulou várias redes e o caso de estudo é uma dessas redes</a:t>
        </a:r>
      </a:p>
    </p188:txBody>
  </p188:cm>
</p188:cmLst>
</file>

<file path=ppt/comments/modernComment_1C4_E4642FA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7B409C-F95D-4E36-9211-5E220F901843}" authorId="{ED4F0127-4DCF-FBF5-2D42-71E883CE3884}" status="resolved" created="2023-10-06T12:50:46.440" complete="100000">
    <pc:sldMkLst xmlns:pc="http://schemas.microsoft.com/office/powerpoint/2013/main/command">
      <pc:docMk/>
      <pc:sldMk cId="3831771051" sldId="452"/>
    </pc:sldMkLst>
    <p188:txBody>
      <a:bodyPr/>
      <a:lstStyle/>
      <a:p>
        <a:r>
          <a:rPr lang="pt-BR"/>
          <a:t>Ajustar tabela
</a:t>
        </a:r>
      </a:p>
    </p188:txBody>
  </p188:cm>
</p188:cmLst>
</file>

<file path=ppt/comments/modernComment_1C8_6D1F58C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7967D13-D7CC-40D2-8BF5-C494B21F582E}" authorId="{ED4F0127-4DCF-FBF5-2D42-71E883CE3884}" created="2023-10-03T02:51:16.244">
    <pc:sldMkLst xmlns:pc="http://schemas.microsoft.com/office/powerpoint/2013/main/command">
      <pc:docMk/>
      <pc:sldMk cId="1830770887" sldId="456"/>
    </pc:sldMkLst>
    <p188:replyLst>
      <p188:reply id="{F45DD28B-AB48-4EAF-A18D-13EA00F71DD2}" authorId="{ED4F0127-4DCF-FBF5-2D42-71E883CE3884}" created="2023-10-03T02:52:20.741">
        <p188:txBody>
          <a:bodyPr/>
          <a:lstStyle/>
          <a:p>
            <a:r>
              <a:rPr lang="pt-BR"/>
              <a:t>Dforma direta, eles foram obtidos de forma empirica. No ajuste da resposta do controle do inversor que precisa de uma convergencai interna ara obetr uma resposta.</a:t>
            </a:r>
          </a:p>
        </p188:txBody>
      </p188:reply>
      <p188:reply id="{FA705879-4B13-4281-A1D4-B60D95586DF2}" authorId="{ED4F0127-4DCF-FBF5-2D42-71E883CE3884}" created="2023-10-03T02:52:55.259">
        <p188:txBody>
          <a:bodyPr/>
          <a:lstStyle/>
          <a:p>
            <a:r>
              <a:rPr lang="pt-BR"/>
              <a:t>De toda forma, esse tema foi discussão m diversos trabahos, inclusive vi um estudo que mostra uma otimização com relação a estes valores</a:t>
            </a:r>
          </a:p>
        </p188:txBody>
      </p188:reply>
      <p188:reply id="{BBEC10B7-DA2C-407B-9B76-1C9FC4EBDC16}" authorId="{ED4F0127-4DCF-FBF5-2D42-71E883CE3884}" created="2023-10-03T02:53:58.984">
        <p188:txBody>
          <a:bodyPr/>
          <a:lstStyle/>
          <a:p>
            <a:r>
              <a:rPr lang="pt-BR"/>
              <a:t>De toda forma, foram valores proximos aos que vi emt rabalhos semelantes. Até um mestrado com tema semalhante</a:t>
            </a:r>
          </a:p>
        </p188:txBody>
      </p188:reply>
    </p188:replyLst>
    <p188:txBody>
      <a:bodyPr/>
      <a:lstStyle/>
      <a:p>
        <a:r>
          <a:rPr lang="pt-BR"/>
          <a:t>De onde vieram os limites?
</a:t>
        </a:r>
      </a:p>
    </p188:txBody>
  </p188:cm>
</p188:cmLst>
</file>

<file path=ppt/comments/modernComment_1C9_D29232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19BA2C2-F260-46AC-9D2C-3AFF4CCC9C8D}" authorId="{ED4F0127-4DCF-FBF5-2D42-71E883CE3884}" status="resolved" created="2023-10-06T12:52:08.400" complete="100000">
    <pc:sldMkLst xmlns:pc="http://schemas.microsoft.com/office/powerpoint/2013/main/command">
      <pc:docMk/>
      <pc:sldMk cId="3532796585" sldId="457"/>
    </pc:sldMkLst>
    <p188:txBody>
      <a:bodyPr/>
      <a:lstStyle/>
      <a:p>
        <a:r>
          <a:rPr lang="pt-BR"/>
          <a:t>Falar do limite teórico 
Como simulou isso?</a:t>
        </a:r>
      </a:p>
    </p188:txBody>
  </p188:cm>
</p188:cmLst>
</file>

<file path=ppt/comments/modernComment_1CA_CE1B3DD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C542BD-8491-4517-B167-6502639F214E}" authorId="{ED4F0127-4DCF-FBF5-2D42-71E883CE3884}" status="resolved" created="2023-10-06T12:52:53.463" complete="100000">
    <pc:sldMkLst xmlns:pc="http://schemas.microsoft.com/office/powerpoint/2013/main/command">
      <pc:docMk/>
      <pc:sldMk cId="3457891806" sldId="458"/>
    </pc:sldMkLst>
    <p188:txBody>
      <a:bodyPr/>
      <a:lstStyle/>
      <a:p>
        <a:r>
          <a:rPr lang="pt-BR"/>
          <a:t>Pode ser bom o titulo, falarndo que uma é VW e outr vvVW
</a:t>
        </a:r>
      </a:p>
    </p188:txBody>
  </p188:cm>
</p188:cmLst>
</file>

<file path=ppt/comments/modernComment_1D0_F31A7A5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2EA2DF-5459-47E5-8FBC-02816C308D25}" authorId="{ED4F0127-4DCF-FBF5-2D42-71E883CE3884}" status="resolved" created="2023-10-06T12:54:50.573" complete="100000">
    <pc:sldMkLst xmlns:pc="http://schemas.microsoft.com/office/powerpoint/2013/main/command">
      <pc:docMk/>
      <pc:sldMk cId="4078598741" sldId="464"/>
    </pc:sldMkLst>
    <p188:replyLst>
      <p188:reply id="{9392B608-D94C-44BF-AE05-A527392E0DA1}" authorId="{ED4F0127-4DCF-FBF5-2D42-71E883CE3884}" created="2023-10-08T13:50:33.146">
        <p188:txBody>
          <a:bodyPr/>
          <a:lstStyle/>
          <a:p>
            <a:r>
              <a:rPr lang="pt-BR"/>
              <a:t>DONE
</a:t>
            </a:r>
          </a:p>
        </p188:txBody>
      </p188:reply>
    </p188:replyLst>
    <p188:txBody>
      <a:bodyPr/>
      <a:lstStyle/>
      <a:p>
        <a:r>
          <a:rPr lang="pt-BR"/>
          <a:t>Animação
Usar caneta lazer, melhor
Maior e menor ocorrencia</a:t>
        </a:r>
      </a:p>
    </p188:txBody>
  </p188:cm>
</p188:cmLst>
</file>

<file path=ppt/comments/modernComment_1D2_488C83B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DC46EC-CFC7-4BC2-AC2A-CFF7040259FD}" authorId="{ED4F0127-4DCF-FBF5-2D42-71E883CE3884}" status="resolved" created="2023-10-01T21:31:08.640" complete="100000">
    <pc:sldMkLst xmlns:pc="http://schemas.microsoft.com/office/powerpoint/2013/main/command">
      <pc:docMk/>
      <pc:sldMk cId="1217168309" sldId="466"/>
    </pc:sldMkLst>
    <p188:txBody>
      <a:bodyPr/>
      <a:lstStyle/>
      <a:p>
        <a:r>
          <a:rPr lang="pt-BR"/>
          <a:t>Tem de colocar a tabela com a disposi;'ao</a:t>
        </a:r>
      </a:p>
    </p188:txBody>
  </p188:cm>
</p188:cmLst>
</file>

<file path=ppt/comments/modernComment_1DC_4F6C08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08946F8-6A74-4F29-B9F3-4775985740AD}" authorId="{ED4F0127-4DCF-FBF5-2D42-71E883CE3884}" created="2023-10-06T12:57:41.43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32480192" sldId="476"/>
      <ac:graphicFrameMk id="3" creationId="{357FE8EB-ED61-0036-990B-DFFF95BA8576}"/>
      <ac:tblMk/>
      <ac:tcMk rowId="4218948781" colId="3442989478"/>
      <ac:txMk cp="0" len="3">
        <ac:context len="4" hash="2108449"/>
      </ac:txMk>
    </ac:txMkLst>
    <p188:pos x="4899914" y="1380712"/>
    <p188:txBody>
      <a:bodyPr/>
      <a:lstStyle/>
      <a:p>
        <a:r>
          <a:rPr lang="pt-BR"/>
          <a:t>Ponto de questionamento</a:t>
        </a:r>
      </a:p>
    </p188:txBody>
  </p188:cm>
</p188:cmLst>
</file>

<file path=ppt/comments/modernComment_1DD_704F6D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623C2A-65C5-4EEF-B1D4-3F265FF09E4C}" authorId="{ED4F0127-4DCF-FBF5-2D42-71E883CE3884}" created="2023-10-06T12:58:20.721">
    <pc:sldMkLst xmlns:pc="http://schemas.microsoft.com/office/powerpoint/2013/main/command">
      <pc:docMk/>
      <pc:sldMk cId="1884253514" sldId="477"/>
    </pc:sldMkLst>
    <p188:txBody>
      <a:bodyPr/>
      <a:lstStyle/>
      <a:p>
        <a:r>
          <a:rPr lang="pt-BR"/>
          <a:t>Destacar o que é mais importante de mostrar
Com BESS aumentou o HC, com animação</a:t>
        </a:r>
      </a:p>
    </p188:txBody>
  </p188:cm>
  <p188:cm id="{0EBF55A6-6837-4626-AF9C-CDE294C1C41D}" authorId="{ED4F0127-4DCF-FBF5-2D42-71E883CE3884}" created="2023-10-06T12:59:00.578">
    <pc:sldMkLst xmlns:pc="http://schemas.microsoft.com/office/powerpoint/2013/main/command">
      <pc:docMk/>
      <pc:sldMk cId="1884253514" sldId="477"/>
    </pc:sldMkLst>
    <p188:txBody>
      <a:bodyPr/>
      <a:lstStyle/>
      <a:p>
        <a:r>
          <a:rPr lang="pt-BR"/>
          <a:t>Qual utilizaria?
</a:t>
        </a:r>
      </a:p>
    </p188:txBody>
  </p188:cm>
</p188:cmLst>
</file>

<file path=ppt/comments/modernComment_1E5_8D5CDA1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78D977-3F38-4AA0-938E-17EB262ECBD7}" authorId="{ED4F0127-4DCF-FBF5-2D42-71E883CE3884}" status="resolved" created="2023-10-06T13:07:02.895" complete="100000">
    <pc:sldMkLst xmlns:pc="http://schemas.microsoft.com/office/powerpoint/2013/main/command">
      <pc:docMk/>
      <pc:sldMk cId="2371672599" sldId="485"/>
    </pc:sldMkLst>
    <p188:txBody>
      <a:bodyPr/>
      <a:lstStyle/>
      <a:p>
        <a:r>
          <a:rPr lang="pt-BR"/>
          <a:t>Colocar titulos
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pt-BR" altLang="pt-BR" dirty="0"/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pt-BR" altLang="pt-BR" dirty="0"/>
          </a:p>
        </p:txBody>
      </p:sp>
      <p:sp>
        <p:nvSpPr>
          <p:cNvPr id="410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pt-BR" altLang="pt-BR" dirty="0"/>
          </a:p>
        </p:txBody>
      </p:sp>
      <p:sp>
        <p:nvSpPr>
          <p:cNvPr id="410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6C0453F5-D9C1-4319-95F2-F8610CC1EC8C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540946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pt-BR" altLang="pt-BR" dirty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pt-BR" altLang="pt-BR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noProof="0"/>
              <a:t>Clique para editar os estilos do texto mestre</a:t>
            </a:r>
          </a:p>
          <a:p>
            <a:pPr lvl="1"/>
            <a:r>
              <a:rPr lang="pt-BR" altLang="pt-BR" noProof="0"/>
              <a:t>Segundo nível</a:t>
            </a:r>
          </a:p>
          <a:p>
            <a:pPr lvl="2"/>
            <a:r>
              <a:rPr lang="pt-BR" altLang="pt-BR" noProof="0"/>
              <a:t>Terceiro nível</a:t>
            </a:r>
          </a:p>
          <a:p>
            <a:pPr lvl="3"/>
            <a:r>
              <a:rPr lang="pt-BR" altLang="pt-BR" noProof="0"/>
              <a:t>Quarto nível</a:t>
            </a:r>
          </a:p>
          <a:p>
            <a:pPr lvl="4"/>
            <a:r>
              <a:rPr lang="pt-BR" altLang="pt-BR" noProof="0"/>
              <a:t>Quinto nível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pt-BR" altLang="pt-BR" dirty="0"/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9833BE5-9A22-4141-B6DB-273AEFC2B51E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8157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E0CDBA-88AB-4B97-98CE-51318E7A6513}" type="slidenum">
              <a:rPr lang="pt-BR" altLang="pt-BR"/>
              <a:pPr/>
              <a:t>1</a:t>
            </a:fld>
            <a:endParaRPr lang="pt-BR" altLang="pt-BR" dirty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altLang="pt-BR" dirty="0"/>
              <a:t>(30 segundos)</a:t>
            </a:r>
          </a:p>
          <a:p>
            <a:pPr eaLnBrk="1" hangingPunct="1"/>
            <a:r>
              <a:rPr lang="pt-BR" altLang="pt-BR" dirty="0"/>
              <a:t>Questão de etiqueta: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Agradecer aos membros da banca ( falar nomes )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Agradecer aos orientadores ( falar nomes )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Agradecer a todos presentes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Vou apresentar sobre o trabalho desenvolvido durante o programa de mestrado em engenharia elétrica intitulado ( ler o título )</a:t>
            </a:r>
          </a:p>
        </p:txBody>
      </p:sp>
    </p:spTree>
    <p:extLst>
      <p:ext uri="{BB962C8B-B14F-4D97-AF65-F5344CB8AC3E}">
        <p14:creationId xmlns:p14="http://schemas.microsoft.com/office/powerpoint/2010/main" val="1289135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(35 segundos)</a:t>
            </a:r>
          </a:p>
          <a:p>
            <a:endParaRPr lang="pt-BR" dirty="0"/>
          </a:p>
          <a:p>
            <a:r>
              <a:rPr lang="pt-BR" dirty="0" err="1"/>
              <a:t>Flar</a:t>
            </a:r>
            <a:r>
              <a:rPr lang="pt-BR" dirty="0"/>
              <a:t> menos a palavra seguindo e ganhar tempo nesse slide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2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789016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(1min 30 seg)</a:t>
            </a:r>
          </a:p>
          <a:p>
            <a:endParaRPr lang="en-US" dirty="0"/>
          </a:p>
          <a:p>
            <a:r>
              <a:rPr lang="en-US" dirty="0" err="1"/>
              <a:t>Falar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As </a:t>
            </a:r>
            <a:r>
              <a:rPr lang="en-US" dirty="0" err="1"/>
              <a:t>unidades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dimenconadas</a:t>
            </a:r>
            <a:r>
              <a:rPr lang="en-US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obtidos</a:t>
            </a:r>
            <a:r>
              <a:rPr lang="en-US" dirty="0"/>
              <a:t> com base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rede de </a:t>
            </a:r>
            <a:r>
              <a:rPr lang="en-US" dirty="0" err="1"/>
              <a:t>baixa</a:t>
            </a:r>
            <a:r>
              <a:rPr lang="en-US" dirty="0"/>
              <a:t> </a:t>
            </a:r>
            <a:r>
              <a:rPr lang="en-US" dirty="0" err="1"/>
              <a:t>tensão</a:t>
            </a:r>
            <a:r>
              <a:rPr lang="en-US" dirty="0"/>
              <a:t> real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rede </a:t>
            </a:r>
            <a:r>
              <a:rPr lang="en-US" dirty="0" err="1"/>
              <a:t>possui</a:t>
            </a:r>
            <a:r>
              <a:rPr lang="en-US" dirty="0"/>
              <a:t> </a:t>
            </a:r>
            <a:r>
              <a:rPr lang="en-US" dirty="0" err="1"/>
              <a:t>capacidade</a:t>
            </a:r>
            <a:r>
              <a:rPr lang="en-US" dirty="0"/>
              <a:t> de </a:t>
            </a:r>
            <a:r>
              <a:rPr lang="en-US" dirty="0" err="1"/>
              <a:t>hospedagem</a:t>
            </a:r>
            <a:r>
              <a:rPr lang="en-US" dirty="0"/>
              <a:t> </a:t>
            </a:r>
            <a:r>
              <a:rPr lang="en-US" dirty="0" err="1"/>
              <a:t>bem</a:t>
            </a:r>
            <a:r>
              <a:rPr lang="en-US" dirty="0"/>
              <a:t> </a:t>
            </a:r>
            <a:r>
              <a:rPr lang="en-US" dirty="0" err="1"/>
              <a:t>definida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Objetivos específicos: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Ferramenta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dirty="0"/>
              <a:t>A ferramenta faz uso de softwares amplamente utilizados na indústria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dirty="0"/>
              <a:t>Explora benefícios de cada um deles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Validação: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dirty="0"/>
              <a:t>Forma de qualificar os resultados obtidos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Estratégias de controle aplicadas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dirty="0"/>
              <a:t>Controles de potência de acordo com o referencial de </a:t>
            </a:r>
            <a:r>
              <a:rPr lang="pt-BR" dirty="0" err="1"/>
              <a:t>pot</a:t>
            </a:r>
            <a:endParaRPr lang="pt-BR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BESS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dirty="0"/>
              <a:t>Utilizando indicadores para quantificar o dimensionamento associado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3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871537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dirty="0">
                <a:effectLst/>
                <a:latin typeface="Calibri" panose="020F0502020204030204" pitchFamily="34" charset="0"/>
              </a:rPr>
              <a:t>Uma figura marcante que mostra a sobrecarga do sistema elétrico no nosso estado.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dirty="0">
                <a:effectLst/>
                <a:latin typeface="Calibri" panose="020F0502020204030204" pitchFamily="34" charset="0"/>
              </a:rPr>
              <a:t>Enfatiza o fato de a rede não estar preparada para suportar tanta GD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dirty="0">
                <a:effectLst/>
                <a:latin typeface="Calibri" panose="020F0502020204030204" pitchFamily="34" charset="0"/>
              </a:rPr>
              <a:t>As redes operam cada vez mais próximas de seus respectivos limites, elevando o risco de violações elétricas na rede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BH n’ao [e SUL </a:t>
            </a:r>
            <a:r>
              <a:rPr lang="pt-BR" dirty="0" err="1"/>
              <a:t>kkkk</a:t>
            </a:r>
            <a:r>
              <a:rPr lang="pt-BR" dirty="0"/>
              <a:t> sudeste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4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567832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Figuras de mérito</a:t>
            </a:r>
          </a:p>
          <a:p>
            <a:endParaRPr lang="pt-BR" dirty="0"/>
          </a:p>
          <a:p>
            <a:pPr marL="457200" indent="-457200">
              <a:buFont typeface="+mj-lt"/>
              <a:buAutoNum type="arabicPeriod"/>
            </a:pPr>
            <a:r>
              <a:rPr lang="pt-BR" i="1" dirty="0"/>
              <a:t>Tecnologias para elevação do HC;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/>
              <a:t>Discussão em elevar o HC de redes elétricas sem necessidade de reestruturação física da mesma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/>
              <a:t>Formas alternativas de se obter esse fim</a:t>
            </a:r>
          </a:p>
          <a:p>
            <a:pPr marL="457200" indent="-457200">
              <a:buFont typeface="+mj-lt"/>
              <a:buAutoNum type="arabicPeriod"/>
            </a:pPr>
            <a:r>
              <a:rPr lang="pt-BR" i="1" dirty="0"/>
              <a:t>Controle de potência reativa;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 err="1"/>
              <a:t>Pormeio</a:t>
            </a:r>
            <a:r>
              <a:rPr lang="pt-BR" i="1" dirty="0"/>
              <a:t> do controle VV amplamente conhecido com operação já bastante consolidade</a:t>
            </a:r>
          </a:p>
          <a:p>
            <a:pPr marL="457200" indent="-457200">
              <a:buFont typeface="+mj-lt"/>
              <a:buAutoNum type="arabicPeriod"/>
            </a:pPr>
            <a:r>
              <a:rPr lang="pt-BR" i="1" dirty="0"/>
              <a:t>Controle de potência ativa;</a:t>
            </a: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pt-BR" i="1" dirty="0"/>
              <a:t>Por meio do controle VW amplamente conhecido com operação já bastante consolidade</a:t>
            </a:r>
          </a:p>
          <a:p>
            <a:pPr marL="914400" lvl="1" indent="-457200">
              <a:buFont typeface="+mj-lt"/>
              <a:buAutoNum type="arabicPeriod"/>
            </a:pPr>
            <a:endParaRPr lang="pt-BR" i="1" dirty="0"/>
          </a:p>
          <a:p>
            <a:pPr marL="457200" indent="-457200">
              <a:buFont typeface="+mj-lt"/>
              <a:buAutoNum type="arabicPeriod"/>
            </a:pPr>
            <a:r>
              <a:rPr lang="pt-BR" i="1" dirty="0"/>
              <a:t>Utilização de BESS descentralizados;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/>
              <a:t>Utilizado para estabilização da operação da rede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/>
              <a:t>Tem uma discussão sobre modelo centralizado e descentralizado mas o foco do trabalho é o </a:t>
            </a:r>
            <a:r>
              <a:rPr lang="pt-BR" i="1" dirty="0" err="1"/>
              <a:t>descentlizado</a:t>
            </a:r>
            <a:endParaRPr lang="pt-BR" i="1" dirty="0"/>
          </a:p>
          <a:p>
            <a:pPr marL="457200" indent="-457200">
              <a:buFont typeface="+mj-lt"/>
              <a:buAutoNum type="arabicPeriod"/>
            </a:pPr>
            <a:r>
              <a:rPr lang="pt-BR" i="1" dirty="0"/>
              <a:t>Dimensionar BESS com energia perdida pelo controle VW.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/>
              <a:t>Gap a ser preenchido pelo trabalho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/>
              <a:t>Mensurar o quanto é necessário para, caso operando com controle VW, qual o tamanho do banco necessário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/>
              <a:t>Foco em reduzir as perdas elétricas durante o processo de geração descentralizada</a:t>
            </a:r>
          </a:p>
          <a:p>
            <a:pPr marL="914400" lvl="1" indent="-457200">
              <a:buFont typeface="+mj-lt"/>
              <a:buAutoNum type="arabicPeriod"/>
            </a:pPr>
            <a:endParaRPr lang="pt-BR" i="1" dirty="0"/>
          </a:p>
          <a:p>
            <a:pPr marL="914400" lvl="1" indent="-457200">
              <a:buFont typeface="+mj-lt"/>
              <a:buAutoNum type="arabicPeriod"/>
            </a:pPr>
            <a:endParaRPr lang="pt-BR" i="1" dirty="0"/>
          </a:p>
          <a:p>
            <a:pPr marL="914400" lvl="1" indent="-457200">
              <a:buFont typeface="+mj-lt"/>
              <a:buAutoNum type="arabicPeriod"/>
            </a:pPr>
            <a:endParaRPr lang="pt-BR" i="1" dirty="0"/>
          </a:p>
          <a:p>
            <a:pPr marL="457200" lvl="0" indent="-457200">
              <a:buFont typeface="+mj-lt"/>
              <a:buAutoNum type="arabicPeriod"/>
            </a:pPr>
            <a:r>
              <a:rPr lang="pt-BR" i="1" dirty="0"/>
              <a:t>FALA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/>
              <a:t>São referencias relativamente novas, que abordam temas inclusos nessa dissertação, trabalhos entre 2019 e 2022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/>
              <a:t>A presente dissertação cobre todos os temas abordados ( Chamar a atenção para isso durante a fala)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/>
              <a:t>Uso o verbo ~seria    Usar foi ou será, passa mais confiança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/>
              <a:t>^	O estado da arte pesquisado foi......</a:t>
            </a:r>
          </a:p>
          <a:p>
            <a:pPr marL="914400" lvl="1" indent="-457200">
              <a:buFont typeface="+mj-lt"/>
              <a:buAutoNum type="arabicPeriod"/>
            </a:pPr>
            <a:endParaRPr lang="pt-BR" i="1" dirty="0"/>
          </a:p>
          <a:p>
            <a:pPr marL="457200" lvl="0" indent="-457200">
              <a:buFont typeface="+mj-lt"/>
              <a:buAutoNum type="arabicPeriod"/>
            </a:pPr>
            <a:r>
              <a:rPr lang="pt-BR" i="1" dirty="0"/>
              <a:t>PQ não está no texto final?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i="1" dirty="0"/>
              <a:t>Foi um modelo que surgiu justamente na preparação da apresentação, que estávamos refletindo sobre uma forma dinâmica de apresentar o estado da arte sem utilizar muito textos ou escritas. Mas sim, seria muito interessante ter essa tabela no texto também.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5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420713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6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16867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(1min 12 </a:t>
            </a:r>
            <a:r>
              <a:rPr lang="pt-BR" dirty="0" err="1"/>
              <a:t>seg</a:t>
            </a:r>
            <a:r>
              <a:rPr lang="pt-BR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Todas as violações precisam ocorrer por mais que 5% da simulação para serem consideradas. 4 Steps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800" dirty="0">
                <a:effectLst/>
                <a:latin typeface="Calibri" panose="020F0502020204030204" pitchFamily="34" charset="0"/>
              </a:rPr>
              <a:t>"Valores de referência obtidos pela IEEE 1547“ e convertidos em 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pu</a:t>
            </a:r>
            <a:r>
              <a:rPr lang="pt-BR" sz="1800" dirty="0">
                <a:effectLst/>
                <a:latin typeface="Calibri" panose="020F050202020403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800" dirty="0">
              <a:effectLst/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800" dirty="0">
                <a:effectLst/>
                <a:latin typeface="Calibri" panose="020F0502020204030204" pitchFamily="34" charset="0"/>
              </a:rPr>
              <a:t>FALA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Calibri" panose="020F0502020204030204" pitchFamily="34" charset="0"/>
              </a:rPr>
              <a:t>Esses </a:t>
            </a:r>
            <a:r>
              <a:rPr lang="pt-BR" dirty="0" err="1">
                <a:effectLst/>
                <a:latin typeface="Calibri" panose="020F0502020204030204" pitchFamily="34" charset="0"/>
              </a:rPr>
              <a:t>s’ao</a:t>
            </a:r>
            <a:r>
              <a:rPr lang="pt-BR" dirty="0">
                <a:effectLst/>
                <a:latin typeface="Calibri" panose="020F0502020204030204" pitchFamily="34" charset="0"/>
              </a:rPr>
              <a:t> os parâmetros que vão identificar a condição em HC, ou a “Operação não permitida” do slide anterior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7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085302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(50 segundos)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Apresenta de forma ilustrativa o funcionamento dos controles VV e VW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Ponto para chamar a atenção é a variável P2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No caso desse estudo foram três amostragens, 15, 30 e 50%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PQ é usado?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Que limite são esses?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Transição para o BESS, ele entra para a suprir essa parda de pot. ativa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F0000"/>
                </a:solidFill>
              </a:rPr>
              <a:t>De onde vieram os valores?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Então, não é uma escolha determinística. Passei por diversos estudos que inclusive tentam otimizar essa operação dos controles. Mas de acordo com algumas referencias e ajustes empíricos por causa da convergência do </a:t>
            </a:r>
            <a:r>
              <a:rPr lang="pt-BR" dirty="0" err="1"/>
              <a:t>OpenDSS</a:t>
            </a:r>
            <a:r>
              <a:rPr lang="pt-BR" dirty="0"/>
              <a:t> chegamos a essa configuração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Quais os valores?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Tem alguma norma que padroniza isso?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8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191663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pt-BR" sz="1800" b="0" i="0" dirty="0">
                <a:effectLst/>
                <a:latin typeface="Calibri" panose="020F0502020204030204" pitchFamily="34" charset="0"/>
              </a:rPr>
              <a:t>"Falar que o modelo Li-</a:t>
            </a:r>
            <a:r>
              <a:rPr lang="pt-BR" sz="1800" b="0" i="0" dirty="0" err="1">
                <a:effectLst/>
                <a:latin typeface="Calibri" panose="020F0502020204030204" pitchFamily="34" charset="0"/>
              </a:rPr>
              <a:t>ion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 foi usado como exemplo no dimensionamento pro ser uma tecnologia promissora e que tende a ganhar </a:t>
            </a:r>
            <a:r>
              <a:rPr lang="pt-BR" sz="1800" b="0" i="0" dirty="0" err="1">
                <a:effectLst/>
                <a:latin typeface="Calibri" panose="020F0502020204030204" pitchFamily="34" charset="0"/>
              </a:rPr>
              <a:t>marketshare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9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333191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pt-BR" sz="1800" b="0" i="0" dirty="0">
                <a:effectLst/>
                <a:latin typeface="Calibri" panose="020F0502020204030204" pitchFamily="34" charset="0"/>
              </a:rPr>
              <a:t>"Falar que o modelo Li-</a:t>
            </a:r>
            <a:r>
              <a:rPr lang="pt-BR" sz="1800" b="0" i="0" dirty="0" err="1">
                <a:effectLst/>
                <a:latin typeface="Calibri" panose="020F0502020204030204" pitchFamily="34" charset="0"/>
              </a:rPr>
              <a:t>ion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 foi usado como exemplo no dimensionamento pro ser uma tecnologia promissora e que tende a ganhar </a:t>
            </a:r>
            <a:r>
              <a:rPr lang="pt-BR" sz="1800" b="0" i="0" dirty="0" err="1">
                <a:effectLst/>
                <a:latin typeface="Calibri" panose="020F0502020204030204" pitchFamily="34" charset="0"/>
              </a:rPr>
              <a:t>marketshare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“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pt-BR" sz="1800" b="0" i="0" dirty="0">
              <a:effectLst/>
              <a:latin typeface="Calibri" panose="020F0502020204030204" pitchFamily="34" charset="0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pt-BR" sz="1800" b="0" i="0" dirty="0">
                <a:effectLst/>
                <a:latin typeface="Calibri" panose="020F0502020204030204" pitchFamily="34" charset="0"/>
              </a:rPr>
              <a:t>Está certo,  Máxima </a:t>
            </a:r>
            <a:r>
              <a:rPr lang="pt-BR" sz="1800" b="0" i="0" dirty="0" err="1">
                <a:effectLst/>
                <a:latin typeface="Calibri" panose="020F0502020204030204" pitchFamily="34" charset="0"/>
              </a:rPr>
              <a:t>pot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 do BESS corresponde a potencia que não mais é injetada, então sempre vai ser menor que a </a:t>
            </a:r>
            <a:r>
              <a:rPr lang="pt-BR" sz="1800" b="0" i="0" dirty="0" err="1">
                <a:effectLst/>
                <a:latin typeface="Calibri" panose="020F0502020204030204" pitchFamily="34" charset="0"/>
              </a:rPr>
              <a:t>pot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 máxima do PV, que representa o que foi </a:t>
            </a:r>
            <a:r>
              <a:rPr lang="pt-BR" sz="1800" b="0" i="0" dirty="0" err="1">
                <a:effectLst/>
                <a:latin typeface="Calibri" panose="020F0502020204030204" pitchFamily="34" charset="0"/>
              </a:rPr>
              <a:t>relamente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 injetado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pt-BR" sz="1800" b="0" i="0" dirty="0">
              <a:effectLst/>
              <a:latin typeface="Calibri" panose="020F0502020204030204" pitchFamily="34" charset="0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pt-BR" sz="1800" b="0" i="0" dirty="0">
              <a:effectLst/>
              <a:latin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10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367266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pt-BR" sz="1100" b="0" i="0" dirty="0">
                <a:effectLst/>
                <a:latin typeface="Calibri" panose="020F0502020204030204" pitchFamily="34" charset="0"/>
              </a:rPr>
              <a:t>(1min 30 </a:t>
            </a:r>
            <a:r>
              <a:rPr lang="pt-BR" sz="1100" b="0" i="0" dirty="0" err="1">
                <a:effectLst/>
                <a:latin typeface="Calibri" panose="020F0502020204030204" pitchFamily="34" charset="0"/>
              </a:rPr>
              <a:t>seg</a:t>
            </a:r>
            <a:r>
              <a:rPr lang="pt-BR" sz="1100" b="0" i="0" dirty="0">
                <a:effectLst/>
                <a:latin typeface="Calibri" panose="020F0502020204030204" pitchFamily="34" charset="0"/>
              </a:rPr>
              <a:t>)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endParaRPr lang="pt-BR" sz="1100" b="0" i="0" dirty="0">
              <a:effectLst/>
              <a:latin typeface="Calibri" panose="020F0502020204030204" pitchFamily="34" charset="0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pt-BR" sz="1100" b="0" i="0" dirty="0">
                <a:effectLst/>
                <a:latin typeface="Calibri" panose="020F0502020204030204" pitchFamily="34" charset="0"/>
              </a:rPr>
              <a:t>Explorar o que cada um tem de melhor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100" b="0" i="0" dirty="0" err="1">
                <a:effectLst/>
                <a:latin typeface="Calibri" panose="020F0502020204030204" pitchFamily="34" charset="0"/>
              </a:rPr>
              <a:t>OpenDSS</a:t>
            </a:r>
            <a:r>
              <a:rPr lang="pt-BR" sz="1100" b="0" i="0" dirty="0">
                <a:effectLst/>
                <a:latin typeface="Calibri" panose="020F0502020204030204" pitchFamily="34" charset="0"/>
              </a:rPr>
              <a:t>: Capacidade de cálculo de fluxo de potência de forma confiável e eficiente.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100" b="0" i="0" dirty="0">
                <a:effectLst/>
                <a:latin typeface="Calibri" panose="020F0502020204030204" pitchFamily="34" charset="0"/>
              </a:rPr>
              <a:t>SQL Server: É uma ferramenta robusta para processamento e armazenamento de dados. Possibilitando melhor flexibilidade no tratamento das informações salvas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100" b="0" i="0" dirty="0">
                <a:effectLst/>
                <a:latin typeface="Calibri" panose="020F0502020204030204" pitchFamily="34" charset="0"/>
              </a:rPr>
              <a:t>Python: Linguagem de programação robusta que integra facilmente as demais ferramenta utilizadas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pt-BR" sz="1100" b="0" i="0" dirty="0">
              <a:effectLst/>
              <a:latin typeface="Calibri" panose="020F0502020204030204" pitchFamily="34" charset="0"/>
            </a:endParaRPr>
          </a:p>
          <a:p>
            <a:pPr marL="285750" lvl="0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pt-BR" sz="1100" b="0" i="0" dirty="0">
                <a:effectLst/>
                <a:latin typeface="Calibri" panose="020F0502020204030204" pitchFamily="34" charset="0"/>
              </a:rPr>
              <a:t>Onde o </a:t>
            </a:r>
            <a:r>
              <a:rPr lang="pt-BR" sz="1100" b="0" i="0" dirty="0" err="1">
                <a:effectLst/>
                <a:latin typeface="Calibri" panose="020F0502020204030204" pitchFamily="34" charset="0"/>
              </a:rPr>
              <a:t>OpenDSS</a:t>
            </a:r>
            <a:r>
              <a:rPr lang="pt-BR" sz="1100" b="0" i="0" dirty="0">
                <a:effectLst/>
                <a:latin typeface="Calibri" panose="020F0502020204030204" pitchFamily="34" charset="0"/>
              </a:rPr>
              <a:t> é usado?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11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914050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(1min)</a:t>
            </a:r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Dois conceitos importantes para compreender todo o trabalho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err="1"/>
              <a:t>Simuação</a:t>
            </a:r>
            <a:r>
              <a:rPr lang="pt-BR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Seleciona a disposição das </a:t>
            </a:r>
            <a:r>
              <a:rPr lang="pt-BR" dirty="0" err="1"/>
              <a:t>PVs</a:t>
            </a:r>
            <a:endParaRPr lang="pt-BR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Randomicamente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dirty="0"/>
              <a:t>Caso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Avalia a simulação sob diferentes configurações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dirty="0"/>
              <a:t>PERGUNTAS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Onde que entra a simulação do BESS?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dirty="0"/>
              <a:t>Então, o foco do trabalho não avaliou o BESS efetivamente integrado a rede.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dirty="0"/>
              <a:t>Com base nos casos de controle que permitem a redução da potência ativa, o BESS é dimensionado armazenar essa diferença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dirty="0"/>
              <a:t>Referente aos casos 4 e 5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12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669414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(</a:t>
            </a:r>
            <a:r>
              <a:rPr lang="en-US" dirty="0" err="1"/>
              <a:t>tempor</a:t>
            </a:r>
            <a:r>
              <a:rPr lang="en-US" dirty="0"/>
              <a:t> de 20 min)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1* -&gt; Identificação da rede que vai ser testada pela ferramenta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Quais elementos ela possui, as curvas de carga, as barras....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2* -&gt; Iteração no quesito exploração de resultados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Sofre influência da escolha randômica do local das </a:t>
            </a:r>
            <a:r>
              <a:rPr lang="pt-BR" dirty="0" err="1"/>
              <a:t>GDs</a:t>
            </a:r>
            <a:endParaRPr lang="pt-BR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Define a simulação que vai ser testada ( a </a:t>
            </a:r>
            <a:r>
              <a:rPr lang="pt-BR" dirty="0" err="1"/>
              <a:t>dispocição</a:t>
            </a:r>
            <a:r>
              <a:rPr lang="pt-BR" dirty="0"/>
              <a:t> das </a:t>
            </a:r>
            <a:r>
              <a:rPr lang="pt-BR" dirty="0" err="1"/>
              <a:t>PVs</a:t>
            </a:r>
            <a:r>
              <a:rPr lang="pt-BR" dirty="0"/>
              <a:t> 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dirty="0"/>
              <a:t>3* -&gt; Ocorre a identificação do HC da rede sob os diferentes casos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Um por vez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Incrementa o valor de </a:t>
            </a:r>
            <a:r>
              <a:rPr lang="pt-BR" dirty="0" err="1"/>
              <a:t>pot</a:t>
            </a:r>
            <a:r>
              <a:rPr lang="pt-BR" dirty="0"/>
              <a:t> por um delta ( 1% da </a:t>
            </a:r>
            <a:r>
              <a:rPr lang="pt-BR" dirty="0" err="1"/>
              <a:t>pot</a:t>
            </a:r>
            <a:r>
              <a:rPr lang="pt-BR" dirty="0"/>
              <a:t> do Trafo 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Até identificar a condição HC para todos os casos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dirty="0"/>
              <a:t>4* -&gt; Identificada a condição em HC, os dados são transferidos para o SQL e apagados no </a:t>
            </a:r>
            <a:r>
              <a:rPr lang="pt-BR" dirty="0" err="1"/>
              <a:t>python</a:t>
            </a:r>
            <a:endParaRPr lang="pt-BR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Melhorar a gestão de memoria e eficiência no armazenamento dos dados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São 1.5 milhões de registros por condição de HC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dirty="0"/>
              <a:t>5* -&gt; Posterior a todos os casos para todas as simulações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O processamento de dados acontece no banco de dados, já descorrelacionado ao Python e a simulação que gerou os dados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O </a:t>
            </a:r>
            <a:r>
              <a:rPr lang="pt-BR" dirty="0" err="1"/>
              <a:t>python</a:t>
            </a:r>
            <a:r>
              <a:rPr lang="pt-BR" dirty="0"/>
              <a:t> entra novamente em uma outra </a:t>
            </a:r>
            <a:r>
              <a:rPr lang="pt-BR" dirty="0" err="1"/>
              <a:t>apicaão</a:t>
            </a:r>
            <a:r>
              <a:rPr lang="pt-BR" dirty="0"/>
              <a:t> desenvolvida para </a:t>
            </a:r>
            <a:r>
              <a:rPr lang="pt-BR" dirty="0" err="1"/>
              <a:t>plot</a:t>
            </a:r>
            <a:r>
              <a:rPr lang="pt-BR" dirty="0"/>
              <a:t> dos resultados, mas também não tem relação com a geração das informações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13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453249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Essa é uma figura ilustrativa que apresenta o caso de estudo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Os círculos vermelhos correlacional o transformador de entrada em ambas as figuras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Américo Brasiliense – NOME DA CIDADE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14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5704661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Temos uma comparação do caso de estudo com os resultados médios das redes analisadas pelo Ricardo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Dentre eles destacamos o comprimento da rede, relação X/R dos condutores, a capacidade de corrente média, quantidade de consumidores por fase e a </a:t>
            </a:r>
            <a:r>
              <a:rPr lang="pt-BR" dirty="0" err="1"/>
              <a:t>pot</a:t>
            </a:r>
            <a:r>
              <a:rPr lang="pt-BR" dirty="0"/>
              <a:t> do transformador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Em termos operacionais, </a:t>
            </a:r>
            <a:r>
              <a:rPr lang="pt-BR" dirty="0" err="1"/>
              <a:t>temoso</a:t>
            </a:r>
            <a:r>
              <a:rPr lang="pt-BR" dirty="0"/>
              <a:t> que o HC médio, para uma penetração de, também, 20% das barras com consumidores foi de 37,40 para o trabalho do Ricardo e 37,11 para o presente estudo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15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038051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16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6389260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17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1461175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18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402972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19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7962726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Temos resultados de 1 PV em 1 simulação para 1 fase conectada na rede.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A ideia é evidenciar a redução de pot. Ativa funcionando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Comparar o caso sem que o controle VW está funcionando só com o </a:t>
            </a:r>
            <a:r>
              <a:rPr lang="pt-BR" dirty="0" err="1"/>
              <a:t>vv+vw</a:t>
            </a:r>
            <a:r>
              <a:rPr lang="pt-BR" dirty="0"/>
              <a:t> ( Já que são ambas na mesma condição e no mesmo intervalo de tempo 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20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078125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(35minutos </a:t>
            </a:r>
            <a:r>
              <a:rPr lang="en-US" dirty="0" err="1"/>
              <a:t>nesse</a:t>
            </a:r>
            <a:r>
              <a:rPr lang="en-US" dirty="0"/>
              <a:t> slide)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21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614301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22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6435509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23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424598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24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20572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25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2962325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26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2860343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27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517730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28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4621211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29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7559711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30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7795585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31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2615734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32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9874048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33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6305145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34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5436683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35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2830223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36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0783681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37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8815930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38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859869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39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8903195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40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6353202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41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7892726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42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0497748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Explicar que o P2 é variável, no caso desse estudo foram três amostragens, 15, 30 e 50%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46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6328793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47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3211312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Exemplo de como o processamento dos dados acontece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Uma tabela central com todas as informações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É filtrada e as informações de interesse, ( </a:t>
            </a:r>
            <a:r>
              <a:rPr lang="pt-BR" dirty="0" err="1"/>
              <a:t>Pot</a:t>
            </a:r>
            <a:r>
              <a:rPr lang="pt-BR" dirty="0"/>
              <a:t> perdida pelo controle VW no caso ) é selecionada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Os cálculos subsequentes são feitos por meio dos </a:t>
            </a:r>
            <a:r>
              <a:rPr lang="pt-BR" dirty="0" err="1"/>
              <a:t>hamados</a:t>
            </a:r>
            <a:r>
              <a:rPr lang="pt-BR" dirty="0"/>
              <a:t> store procedures e </a:t>
            </a:r>
            <a:r>
              <a:rPr lang="pt-BR" dirty="0" err="1"/>
              <a:t>views</a:t>
            </a:r>
            <a:endParaRPr lang="pt-BR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Nesse exemplo foram 4 store procedures e 3 </a:t>
            </a:r>
            <a:r>
              <a:rPr lang="pt-BR" dirty="0" err="1"/>
              <a:t>views</a:t>
            </a:r>
            <a:endParaRPr lang="pt-BR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Cada procedure resulta em uma tabela com informações de interesse que podem, </a:t>
            </a:r>
            <a:r>
              <a:rPr lang="pt-BR" dirty="0" err="1"/>
              <a:t>posteriore</a:t>
            </a:r>
            <a:r>
              <a:rPr lang="pt-BR" dirty="0"/>
              <a:t>, ser utilizadas de </a:t>
            </a:r>
            <a:r>
              <a:rPr lang="pt-BR" dirty="0" err="1"/>
              <a:t>form</a:t>
            </a:r>
            <a:r>
              <a:rPr lang="pt-BR" dirty="0"/>
              <a:t> mais eficiente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pt-BR" dirty="0"/>
              <a:t>Sem ter de fazer a query na tabela gigante dos monitores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48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2620607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49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496642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50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24589184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pt-BR" sz="1800" dirty="0">
                <a:effectLst/>
                <a:latin typeface="Calibri" panose="020F0502020204030204" pitchFamily="34" charset="0"/>
              </a:rPr>
              <a:t>Energia que dá volume, Se conseguir um de 10kW e 30kWh outro de 10kW e 5kWh ( comparar 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quetão</a:t>
            </a:r>
            <a:r>
              <a:rPr lang="pt-BR" sz="1800" dirty="0">
                <a:effectLst/>
                <a:latin typeface="Calibri" panose="020F0502020204030204" pitchFamily="34" charset="0"/>
              </a:rPr>
              <a:t> de volume ) - Energia se relaciona a volume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1800" dirty="0">
              <a:effectLst/>
              <a:latin typeface="Calibri" panose="020F0502020204030204" pitchFamily="34" charset="0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pt-BR" sz="1800" dirty="0">
                <a:effectLst/>
                <a:latin typeface="Calibri" panose="020F0502020204030204" pitchFamily="34" charset="0"/>
              </a:rPr>
              <a:t>Relaciona com 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strings</a:t>
            </a:r>
            <a:r>
              <a:rPr lang="pt-BR" sz="1800" dirty="0">
                <a:effectLst/>
                <a:latin typeface="Calibri" panose="020F0502020204030204" pitchFamily="34" charset="0"/>
              </a:rPr>
              <a:t> em paralelo ( se quer aumentar energia coloca mais em paralelo)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pt-BR" sz="1800" dirty="0">
                <a:effectLst/>
                <a:latin typeface="Calibri" panose="020F0502020204030204" pitchFamily="34" charset="0"/>
              </a:rPr>
              <a:t>Tensão terminal de 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saida</a:t>
            </a:r>
            <a:r>
              <a:rPr lang="pt-BR" sz="1800" dirty="0">
                <a:effectLst/>
                <a:latin typeface="Calibri" panose="020F0502020204030204" pitchFamily="34" charset="0"/>
              </a:rPr>
              <a:t> é a mesma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pt-BR" sz="1800" dirty="0">
                <a:effectLst/>
                <a:latin typeface="Calibri" panose="020F0502020204030204" pitchFamily="34" charset="0"/>
              </a:rPr>
              <a:t>Não é 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dificil</a:t>
            </a:r>
            <a:r>
              <a:rPr lang="pt-BR" sz="1800" dirty="0">
                <a:effectLst/>
                <a:latin typeface="Calibri" panose="020F0502020204030204" pitchFamily="34" charset="0"/>
              </a:rPr>
              <a:t> adaptar um banco para menos energia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1800" dirty="0">
              <a:effectLst/>
              <a:latin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51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264743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pt-BR" sz="1800" dirty="0">
                <a:effectLst/>
                <a:latin typeface="Calibri" panose="020F0502020204030204" pitchFamily="34" charset="0"/>
              </a:rPr>
              <a:t>Energia que dá volume, Se conseguir um de 10kW e 30kWh outro de 10kW e 5kWh ( comparar 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quetão</a:t>
            </a:r>
            <a:r>
              <a:rPr lang="pt-BR" sz="1800" dirty="0">
                <a:effectLst/>
                <a:latin typeface="Calibri" panose="020F0502020204030204" pitchFamily="34" charset="0"/>
              </a:rPr>
              <a:t> de volume ) - Energia se relaciona a volume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1800" dirty="0">
              <a:effectLst/>
              <a:latin typeface="Calibri" panose="020F0502020204030204" pitchFamily="34" charset="0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pt-BR" sz="1800" dirty="0">
                <a:effectLst/>
                <a:latin typeface="Calibri" panose="020F0502020204030204" pitchFamily="34" charset="0"/>
              </a:rPr>
              <a:t>Relaciona com 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strings</a:t>
            </a:r>
            <a:r>
              <a:rPr lang="pt-BR" sz="1800" dirty="0">
                <a:effectLst/>
                <a:latin typeface="Calibri" panose="020F0502020204030204" pitchFamily="34" charset="0"/>
              </a:rPr>
              <a:t> em paralelo ( se quer aumentar energia coloca mais em paralelo)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pt-BR" sz="1800" dirty="0">
                <a:effectLst/>
                <a:latin typeface="Calibri" panose="020F0502020204030204" pitchFamily="34" charset="0"/>
              </a:rPr>
              <a:t>Tensão terminal de 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saida</a:t>
            </a:r>
            <a:r>
              <a:rPr lang="pt-BR" sz="1800" dirty="0">
                <a:effectLst/>
                <a:latin typeface="Calibri" panose="020F0502020204030204" pitchFamily="34" charset="0"/>
              </a:rPr>
              <a:t> é a mesma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pt-BR" sz="1800" dirty="0">
                <a:effectLst/>
                <a:latin typeface="Calibri" panose="020F0502020204030204" pitchFamily="34" charset="0"/>
              </a:rPr>
              <a:t>Não é 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dificil</a:t>
            </a:r>
            <a:r>
              <a:rPr lang="pt-BR" sz="1800" dirty="0">
                <a:effectLst/>
                <a:latin typeface="Calibri" panose="020F0502020204030204" pitchFamily="34" charset="0"/>
              </a:rPr>
              <a:t> adaptar um banco para menos energia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1800" dirty="0">
              <a:effectLst/>
              <a:latin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33BE5-9A22-4141-B6DB-273AEFC2B51E}" type="slidenum">
              <a:rPr lang="pt-BR" altLang="pt-BR" smtClean="0"/>
              <a:pPr>
                <a:defRPr/>
              </a:pPr>
              <a:t>52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90902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914400 h 1000"/>
              <a:gd name="T2" fmla="*/ 0 w 1000"/>
              <a:gd name="T3" fmla="*/ 0 h 1000"/>
              <a:gd name="T4" fmla="*/ 79248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dirty="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dirty="0"/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pt-BR" altLang="en-US" noProof="0"/>
              <a:t>Clique para editar o estilo do título mestre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pt-BR" altLang="en-US" noProof="0"/>
              <a:t>Clique para editar o estilo do subtítulo mestre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55F6162-8930-43BA-90AA-692D20518201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15" name="Imagem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9370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630907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/>
          <a:lstStyle>
            <a:lvl1pPr algn="just">
              <a:defRPr sz="2000"/>
            </a:lvl1pPr>
            <a:lvl2pPr algn="just">
              <a:defRPr sz="1800"/>
            </a:lvl2pPr>
            <a:lvl3pPr algn="just">
              <a:defRPr sz="1600"/>
            </a:lvl3pPr>
            <a:lvl4pPr algn="just">
              <a:defRPr sz="1400"/>
            </a:lvl4pPr>
            <a:lvl5pPr algn="just">
              <a:defRPr sz="12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15885-B0F6-4545-A355-7190B4A52865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6636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D11F3C-9B71-4835-82E3-3DA2B0383472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81418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D9536-9AC6-483B-B9F8-065B6463CEAA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2394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B38B8-FD3B-4D43-8A5A-3949C40A27ED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13" name="Imagem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2510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1398D-AEF6-46E9-974B-980FB3316EF6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9955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E970F-0FB5-4341-B7BD-0C6D2EC74EF0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5" name="Imagem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01527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D002E2-F74A-4C26-8D5F-621F8EAD0B08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71570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331B0D-62B9-4535-9670-4AC1C70F0D76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92352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1544F-F7F5-4428-B0D0-58B0A4A4121F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80553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65FA80-2E24-4592-8663-8C30C7CF3405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2948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39A0D-7D7E-4559-91D2-57E89BB7D880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70426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ítulo, conteúd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D23691-215E-4B66-B6A6-E67D98F3DF32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24415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153CF-F7E8-4A5B-84F6-6A518C4488ED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pic>
        <p:nvPicPr>
          <p:cNvPr id="13" name="Imagem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3" y="6278575"/>
            <a:ext cx="2023203" cy="403213"/>
          </a:xfrm>
          <a:prstGeom prst="rect">
            <a:avLst/>
          </a:prstGeom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564" y="6258960"/>
            <a:ext cx="1178313" cy="43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7627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9076"/>
            <a:ext cx="8229600" cy="464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+mj-lt"/>
              </a:defRPr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smtClean="0">
                <a:latin typeface="+mj-lt"/>
              </a:defRPr>
            </a:lvl1pPr>
          </a:lstStyle>
          <a:p>
            <a:pPr>
              <a:defRPr/>
            </a:pPr>
            <a:endParaRPr lang="pt-BR" altLang="en-US" dirty="0"/>
          </a:p>
        </p:txBody>
      </p:sp>
      <p:sp>
        <p:nvSpPr>
          <p:cNvPr id="2293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+mj-lt"/>
              </a:defRPr>
            </a:lvl1pPr>
          </a:lstStyle>
          <a:p>
            <a:pPr>
              <a:defRPr/>
            </a:pPr>
            <a:fld id="{32548F00-EDC5-4329-97B5-1EAEBFDC316E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609600 h 1000"/>
              <a:gd name="T2" fmla="*/ 0 w 1000"/>
              <a:gd name="T3" fmla="*/ 0 h 1000"/>
              <a:gd name="T4" fmla="*/ 82296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dirty="0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2_FAC492B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3_209F523D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4_5567671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6_8B68E55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9_689DB3CE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18/10/relationships/comments" Target="../comments/modernComment_1BB_C2D0F9B2.xm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F_3FEEED8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E_E49730B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C1_3D625B0E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C2_A7AD303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" Target="slide17.xml"/><Relationship Id="rId7" Type="http://schemas.openxmlformats.org/officeDocument/2006/relationships/slide" Target="slide1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slide" Target="slide1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C4_E4642FAB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microsoft.com/office/2018/10/relationships/comments" Target="../comments/modernComment_1C9_D29232A9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image" Target="../media/image29.png"/><Relationship Id="rId4" Type="http://schemas.openxmlformats.org/officeDocument/2006/relationships/slide" Target="slide21.xml"/><Relationship Id="rId9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CA_CE1B3DDE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0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slide" Target="slide26.xml"/><Relationship Id="rId7" Type="http://schemas.openxmlformats.org/officeDocument/2006/relationships/slide" Target="slide2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slide" Target="slide27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D0_F31A7A5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eg"/><Relationship Id="rId5" Type="http://schemas.openxmlformats.org/officeDocument/2006/relationships/image" Target="../media/image41.png"/><Relationship Id="rId4" Type="http://schemas.openxmlformats.org/officeDocument/2006/relationships/slide" Target="sl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5.xml"/><Relationship Id="rId4" Type="http://schemas.openxmlformats.org/officeDocument/2006/relationships/image" Target="../media/image44.jpe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D2_488C83B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slide" Target="slide33.xml"/><Relationship Id="rId7" Type="http://schemas.openxmlformats.org/officeDocument/2006/relationships/slide" Target="slide3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slide" Target="slide32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0.xml"/><Relationship Id="rId4" Type="http://schemas.openxmlformats.org/officeDocument/2006/relationships/image" Target="../media/image53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0.xml"/><Relationship Id="rId4" Type="http://schemas.openxmlformats.org/officeDocument/2006/relationships/image" Target="../media/image55.jp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DC_4F6C08C0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DD_704F6D4A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slide" Target="slide38.xml"/><Relationship Id="rId7" Type="http://schemas.openxmlformats.org/officeDocument/2006/relationships/slide" Target="slide40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slide" Target="slide39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E5_8D5CDA17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g"/><Relationship Id="rId5" Type="http://schemas.openxmlformats.org/officeDocument/2006/relationships/image" Target="../media/image59.jpg"/><Relationship Id="rId4" Type="http://schemas.openxmlformats.org/officeDocument/2006/relationships/slide" Target="slide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7.xml"/><Relationship Id="rId4" Type="http://schemas.openxmlformats.org/officeDocument/2006/relationships/image" Target="../media/image62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7.xml"/><Relationship Id="rId4" Type="http://schemas.openxmlformats.org/officeDocument/2006/relationships/image" Target="../media/image64.jp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C8_6D1F58C7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1018625" y="2924944"/>
            <a:ext cx="7740000" cy="0"/>
          </a:xfrm>
          <a:prstGeom prst="line">
            <a:avLst/>
          </a:prstGeom>
          <a:ln w="666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4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064264" y="2960948"/>
            <a:ext cx="7784464" cy="1224136"/>
          </a:xfrm>
        </p:spPr>
        <p:txBody>
          <a:bodyPr/>
          <a:lstStyle/>
          <a:p>
            <a:pPr marL="0" indent="0" algn="ctr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/>
              <a:t>Enhancement of rooftop-PV hosting-capacity based on decentralized battery energy storage systems</a:t>
            </a:r>
            <a:r>
              <a:rPr lang="pt-BR" sz="2400" dirty="0"/>
              <a:t> </a:t>
            </a:r>
            <a:br>
              <a:rPr lang="pt-BR" sz="2800" dirty="0"/>
            </a:br>
            <a:br>
              <a:rPr lang="pt-BR" sz="2400" dirty="0"/>
            </a:br>
            <a:endParaRPr lang="pt-BR" altLang="pt-BR" sz="2400" dirty="0"/>
          </a:p>
        </p:txBody>
      </p:sp>
      <p:sp>
        <p:nvSpPr>
          <p:cNvPr id="5126" name="Text Box 5"/>
          <p:cNvSpPr txBox="1">
            <a:spLocks noChangeArrowheads="1"/>
          </p:cNvSpPr>
          <p:nvPr/>
        </p:nvSpPr>
        <p:spPr bwMode="auto">
          <a:xfrm>
            <a:off x="1039891" y="4221088"/>
            <a:ext cx="7630277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600" dirty="0"/>
              <a:t>Mestrando: Hugo Rodrigues Torquato</a:t>
            </a:r>
          </a:p>
          <a:p>
            <a:pPr algn="ctr" eaLnBrk="1" hangingPunct="1"/>
            <a:endParaRPr lang="pt-BR" altLang="pt-BR" sz="1600" dirty="0"/>
          </a:p>
          <a:p>
            <a:pPr algn="ctr" eaLnBrk="1" hangingPunct="1"/>
            <a:r>
              <a:rPr lang="pt-BR" altLang="pt-BR" sz="1600" dirty="0"/>
              <a:t>Orientador: Dr. Danilo Iglesias Brandão </a:t>
            </a:r>
          </a:p>
          <a:p>
            <a:pPr algn="ctr" eaLnBrk="1" hangingPunct="1"/>
            <a:endParaRPr lang="pt-BR" altLang="pt-BR" sz="1600" dirty="0"/>
          </a:p>
          <a:p>
            <a:pPr lvl="0" algn="ctr" eaLnBrk="1" hangingPunct="1"/>
            <a:r>
              <a:rPr lang="pt-BR" altLang="pt-BR" sz="1600" dirty="0">
                <a:solidFill>
                  <a:srgbClr val="000000"/>
                </a:solidFill>
              </a:rPr>
              <a:t>Coorientador: Dr. </a:t>
            </a:r>
            <a:r>
              <a:rPr lang="pt-BR" altLang="pt-BR" sz="1600" dirty="0"/>
              <a:t>Hélio Marcos André Antunes</a:t>
            </a:r>
            <a:endParaRPr lang="pt-BR" altLang="pt-BR" sz="1600" dirty="0">
              <a:solidFill>
                <a:srgbClr val="000000"/>
              </a:solidFill>
            </a:endParaRPr>
          </a:p>
          <a:p>
            <a:pPr algn="ctr" eaLnBrk="1" hangingPunct="1"/>
            <a:endParaRPr lang="pt-BR" altLang="pt-BR" sz="1400" dirty="0"/>
          </a:p>
          <a:p>
            <a:pPr algn="ctr" eaLnBrk="1" hangingPunct="1"/>
            <a:r>
              <a:rPr lang="pt-BR" altLang="pt-BR" sz="1400" dirty="0"/>
              <a:t>Belo Horizonte</a:t>
            </a:r>
          </a:p>
          <a:p>
            <a:pPr algn="ctr" eaLnBrk="1" hangingPunct="1"/>
            <a:r>
              <a:rPr lang="pt-BR" altLang="pt-BR" sz="1400" dirty="0"/>
              <a:t>Outubro de 2023</a:t>
            </a:r>
          </a:p>
        </p:txBody>
      </p:sp>
      <p:sp>
        <p:nvSpPr>
          <p:cNvPr id="2" name="Retângulo 1"/>
          <p:cNvSpPr/>
          <p:nvPr/>
        </p:nvSpPr>
        <p:spPr>
          <a:xfrm>
            <a:off x="1579955" y="341534"/>
            <a:ext cx="7090213" cy="958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</a:rPr>
              <a:t>Programa de Pós-Graduação em Engenharia Elétrica</a:t>
            </a:r>
            <a:endParaRPr lang="pt-BR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+mn-lt"/>
              </a:rPr>
              <a:t>Escola de Engenharia - Universidade Federal de Minas Gerais</a:t>
            </a:r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00" y="292194"/>
            <a:ext cx="1008000" cy="1008000"/>
          </a:xfrm>
          <a:prstGeom prst="rect">
            <a:avLst/>
          </a:prstGeom>
        </p:spPr>
      </p:pic>
      <p:sp>
        <p:nvSpPr>
          <p:cNvPr id="8" name="Rectangle 20"/>
          <p:cNvSpPr>
            <a:spLocks noChangeArrowheads="1"/>
          </p:cNvSpPr>
          <p:nvPr/>
        </p:nvSpPr>
        <p:spPr bwMode="gray">
          <a:xfrm>
            <a:off x="451659" y="1383116"/>
            <a:ext cx="612605" cy="4822149"/>
          </a:xfrm>
          <a:prstGeom prst="rect">
            <a:avLst/>
          </a:prstGeom>
          <a:gradFill>
            <a:gsLst>
              <a:gs pos="0">
                <a:srgbClr val="FF9900"/>
              </a:gs>
              <a:gs pos="67000">
                <a:srgbClr val="CC6600"/>
              </a:gs>
            </a:gsLst>
            <a:lin ang="5400000" scaled="0"/>
          </a:gradFill>
          <a:ln>
            <a:noFill/>
          </a:ln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3" name="Picture 23" descr="engenhari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0"/>
          <a:stretch/>
        </p:blipFill>
        <p:spPr bwMode="auto">
          <a:xfrm>
            <a:off x="1064264" y="1391773"/>
            <a:ext cx="7691939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313777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Objetivos;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Contextualização;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Figuras</a:t>
            </a:r>
            <a:r>
              <a:rPr lang="en-US" dirty="0"/>
              <a:t> de </a:t>
            </a:r>
            <a:r>
              <a:rPr lang="pt-BR" dirty="0"/>
              <a:t>Mérito;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Ferramenta </a:t>
            </a:r>
            <a:r>
              <a:rPr lang="en-US" dirty="0" err="1"/>
              <a:t>desenvolvida</a:t>
            </a:r>
            <a:r>
              <a:rPr lang="en-US" dirty="0"/>
              <a:t>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Caso de </a:t>
            </a:r>
            <a:r>
              <a:rPr lang="en-US" dirty="0" err="1"/>
              <a:t>estudo</a:t>
            </a:r>
            <a:r>
              <a:rPr lang="en-US" dirty="0"/>
              <a:t>, rede de </a:t>
            </a:r>
            <a:r>
              <a:rPr lang="en-US" dirty="0" err="1"/>
              <a:t>baixa</a:t>
            </a:r>
            <a:r>
              <a:rPr lang="en-US" dirty="0"/>
              <a:t> </a:t>
            </a:r>
            <a:r>
              <a:rPr lang="en-US" dirty="0" err="1"/>
              <a:t>tensão</a:t>
            </a:r>
            <a:r>
              <a:rPr lang="en-US" dirty="0"/>
              <a:t>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Resultados</a:t>
            </a:r>
            <a:r>
              <a:rPr lang="en-US" dirty="0"/>
              <a:t>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Conclusões.</a:t>
            </a:r>
          </a:p>
          <a:p>
            <a:endParaRPr lang="pt-BR" dirty="0"/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2</a:t>
            </a:fld>
            <a:endParaRPr lang="pt-BR" altLang="en-US" dirty="0"/>
          </a:p>
        </p:txBody>
      </p:sp>
    </p:spTree>
    <p:extLst>
      <p:ext uri="{BB962C8B-B14F-4D97-AF65-F5344CB8AC3E}">
        <p14:creationId xmlns:p14="http://schemas.microsoft.com/office/powerpoint/2010/main" val="4148170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022250"/>
          </a:xfrm>
        </p:spPr>
        <p:txBody>
          <a:bodyPr/>
          <a:lstStyle/>
          <a:p>
            <a:r>
              <a:rPr lang="pt-BR" sz="3200" dirty="0"/>
              <a:t>1. Objetivos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1800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Objetivo Geral:</a:t>
            </a:r>
          </a:p>
          <a:p>
            <a:pPr lvl="1"/>
            <a:r>
              <a:rPr lang="en-US" dirty="0" err="1"/>
              <a:t>Estimar</a:t>
            </a:r>
            <a:r>
              <a:rPr lang="en-US" dirty="0"/>
              <a:t> o </a:t>
            </a:r>
            <a:r>
              <a:rPr lang="en-US" i="1" dirty="0"/>
              <a:t>hosting capacity </a:t>
            </a:r>
            <a:r>
              <a:rPr lang="en-US" dirty="0"/>
              <a:t>(HC) </a:t>
            </a:r>
            <a:r>
              <a:rPr lang="en-US" dirty="0" err="1"/>
              <a:t>em</a:t>
            </a:r>
            <a:r>
              <a:rPr lang="en-US" dirty="0"/>
              <a:t> redes de </a:t>
            </a:r>
            <a:r>
              <a:rPr lang="en-US" dirty="0" err="1"/>
              <a:t>distribui</a:t>
            </a:r>
            <a:r>
              <a:rPr lang="pt-BR" dirty="0" err="1"/>
              <a:t>ção</a:t>
            </a:r>
            <a:r>
              <a:rPr lang="pt-BR" dirty="0"/>
              <a:t> p</a:t>
            </a:r>
            <a:r>
              <a:rPr lang="en-US" dirty="0"/>
              <a:t>or </a:t>
            </a:r>
            <a:r>
              <a:rPr lang="en-US" dirty="0" err="1"/>
              <a:t>meio</a:t>
            </a:r>
            <a:r>
              <a:rPr lang="en-US" dirty="0"/>
              <a:t> da </a:t>
            </a:r>
            <a:r>
              <a:rPr lang="en-US" dirty="0" err="1"/>
              <a:t>implementação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ferramenta, </a:t>
            </a:r>
            <a:r>
              <a:rPr lang="en-US" dirty="0" err="1"/>
              <a:t>capaz</a:t>
            </a:r>
            <a:r>
              <a:rPr lang="en-US" dirty="0"/>
              <a:t> de </a:t>
            </a:r>
            <a:r>
              <a:rPr lang="en-US" dirty="0" err="1"/>
              <a:t>avaliar</a:t>
            </a:r>
            <a:r>
              <a:rPr lang="en-US" dirty="0"/>
              <a:t> </a:t>
            </a:r>
            <a:r>
              <a:rPr lang="en-US" dirty="0" err="1"/>
              <a:t>desempenho</a:t>
            </a:r>
            <a:r>
              <a:rPr lang="en-US" dirty="0"/>
              <a:t> de </a:t>
            </a:r>
            <a:r>
              <a:rPr lang="en-US" dirty="0" err="1"/>
              <a:t>contoles</a:t>
            </a:r>
            <a:r>
              <a:rPr lang="en-US" dirty="0"/>
              <a:t> de tens</a:t>
            </a:r>
            <a:r>
              <a:rPr lang="pt-BR" dirty="0" err="1"/>
              <a:t>ão</a:t>
            </a:r>
            <a:r>
              <a:rPr lang="en-US" dirty="0"/>
              <a:t> e </a:t>
            </a:r>
            <a:r>
              <a:rPr lang="pt-BR" dirty="0"/>
              <a:t>dimensionar unidades de armazenamento de energia descentralizadas.</a:t>
            </a:r>
            <a:endParaRPr lang="en-US" dirty="0"/>
          </a:p>
          <a:p>
            <a:pPr lvl="1"/>
            <a:endParaRPr lang="pt-BR" dirty="0"/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3</a:t>
            </a:fld>
            <a:endParaRPr lang="pt-BR" altLang="en-US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AC7992B0-EF44-F0DD-4D67-1C38C261A52E}"/>
              </a:ext>
            </a:extLst>
          </p:cNvPr>
          <p:cNvSpPr txBox="1">
            <a:spLocks/>
          </p:cNvSpPr>
          <p:nvPr/>
        </p:nvSpPr>
        <p:spPr bwMode="auto">
          <a:xfrm>
            <a:off x="457200" y="3340615"/>
            <a:ext cx="8229600" cy="2700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Objetivos específicos:</a:t>
            </a:r>
          </a:p>
          <a:p>
            <a:pPr marL="742950" lvl="1" indent="-285750"/>
            <a:r>
              <a:rPr lang="pt-BR" dirty="0"/>
              <a:t>Desenvolver a arquitetura e implementação da ferramenta;</a:t>
            </a:r>
          </a:p>
          <a:p>
            <a:pPr marL="742950" lvl="1" indent="-285750"/>
            <a:r>
              <a:rPr lang="pt-BR" dirty="0"/>
              <a:t>Validar da metodologia de estimação;</a:t>
            </a:r>
          </a:p>
          <a:p>
            <a:pPr marL="742950" lvl="1" indent="-285750"/>
            <a:r>
              <a:rPr lang="pt-BR" dirty="0"/>
              <a:t>Avaliar o desempenho das estratégias de controle em elevar o HC;</a:t>
            </a:r>
          </a:p>
          <a:p>
            <a:pPr marL="1095375" lvl="2" indent="-285750"/>
            <a:r>
              <a:rPr lang="pt-BR" dirty="0" err="1"/>
              <a:t>volt-var</a:t>
            </a:r>
            <a:r>
              <a:rPr lang="pt-BR" dirty="0"/>
              <a:t>,(VV) volt-watt(VW), e </a:t>
            </a:r>
            <a:r>
              <a:rPr lang="pt-BR" dirty="0" err="1"/>
              <a:t>volt-var</a:t>
            </a:r>
            <a:r>
              <a:rPr lang="pt-BR" dirty="0"/>
              <a:t> e volt-watt(VV&amp;VW);</a:t>
            </a:r>
          </a:p>
          <a:p>
            <a:pPr marL="742950" lvl="1" indent="-285750"/>
            <a:r>
              <a:rPr lang="pt-BR" dirty="0"/>
              <a:t>Avaliar a abordagem de armazenadores descentralizados em elevar o HC.</a:t>
            </a:r>
          </a:p>
          <a:p>
            <a:pPr lvl="1"/>
            <a:endParaRPr lang="pt-BR" dirty="0"/>
          </a:p>
          <a:p>
            <a:pPr marL="0" indent="0">
              <a:buFont typeface="Wingdings" panose="05000000000000000000" pitchFamily="2" charset="2"/>
              <a:buNone/>
            </a:pP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718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2. Contextualização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4</a:t>
            </a:fld>
            <a:endParaRPr lang="pt-BR" alt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7A5B482-88B9-C2D3-9991-393822DCB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896" y="1124744"/>
            <a:ext cx="6444208" cy="4746486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86339BA-0A78-B05E-877E-C0B6FB05197F}"/>
              </a:ext>
            </a:extLst>
          </p:cNvPr>
          <p:cNvCxnSpPr>
            <a:cxnSpLocks/>
          </p:cNvCxnSpPr>
          <p:nvPr/>
        </p:nvCxnSpPr>
        <p:spPr>
          <a:xfrm>
            <a:off x="7308304" y="1268760"/>
            <a:ext cx="710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E45379F1-7DF7-2464-7922-C3DD05A55D7A}"/>
              </a:ext>
            </a:extLst>
          </p:cNvPr>
          <p:cNvCxnSpPr>
            <a:cxnSpLocks/>
          </p:cNvCxnSpPr>
          <p:nvPr/>
        </p:nvCxnSpPr>
        <p:spPr>
          <a:xfrm>
            <a:off x="7794104" y="1484784"/>
            <a:ext cx="225152" cy="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79F891A-1677-EAE5-010F-BC7823765B41}"/>
              </a:ext>
            </a:extLst>
          </p:cNvPr>
          <p:cNvCxnSpPr>
            <a:cxnSpLocks/>
          </p:cNvCxnSpPr>
          <p:nvPr/>
        </p:nvCxnSpPr>
        <p:spPr>
          <a:xfrm>
            <a:off x="7394848" y="1700808"/>
            <a:ext cx="624408" cy="5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66A5EFEB-64E6-614E-F97E-57058F5FFF4D}"/>
              </a:ext>
            </a:extLst>
          </p:cNvPr>
          <p:cNvCxnSpPr>
            <a:cxnSpLocks/>
          </p:cNvCxnSpPr>
          <p:nvPr/>
        </p:nvCxnSpPr>
        <p:spPr>
          <a:xfrm>
            <a:off x="6804248" y="1916832"/>
            <a:ext cx="12150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712E47A-91C5-7C31-7396-06C4193FC93B}"/>
              </a:ext>
            </a:extLst>
          </p:cNvPr>
          <p:cNvSpPr txBox="1"/>
          <p:nvPr/>
        </p:nvSpPr>
        <p:spPr>
          <a:xfrm>
            <a:off x="8019256" y="1130260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7.50%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98CBA9F-5492-1725-F2EA-EA3CD1A51C35}"/>
              </a:ext>
            </a:extLst>
          </p:cNvPr>
          <p:cNvSpPr txBox="1"/>
          <p:nvPr/>
        </p:nvSpPr>
        <p:spPr>
          <a:xfrm>
            <a:off x="8019256" y="1357334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12.2%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CB96985-5BA5-3F6B-35E0-BAE5F98CF73C}"/>
              </a:ext>
            </a:extLst>
          </p:cNvPr>
          <p:cNvSpPr txBox="1"/>
          <p:nvPr/>
        </p:nvSpPr>
        <p:spPr>
          <a:xfrm>
            <a:off x="8019256" y="1573344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79.1%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3476304-E7A5-3C1F-F6C3-D0A305005731}"/>
              </a:ext>
            </a:extLst>
          </p:cNvPr>
          <p:cNvSpPr txBox="1"/>
          <p:nvPr/>
        </p:nvSpPr>
        <p:spPr>
          <a:xfrm>
            <a:off x="8019255" y="1761389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1.17%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12A49E-61D6-3F48-95F1-AEC7F601C150}"/>
              </a:ext>
            </a:extLst>
          </p:cNvPr>
          <p:cNvSpPr txBox="1"/>
          <p:nvPr/>
        </p:nvSpPr>
        <p:spPr>
          <a:xfrm>
            <a:off x="6106480" y="5437284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Agosto de 2023</a:t>
            </a:r>
          </a:p>
        </p:txBody>
      </p:sp>
    </p:spTree>
    <p:extLst>
      <p:ext uri="{BB962C8B-B14F-4D97-AF65-F5344CB8AC3E}">
        <p14:creationId xmlns:p14="http://schemas.microsoft.com/office/powerpoint/2010/main" val="54731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Estado da Arte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052736"/>
            <a:ext cx="8224696" cy="507818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i="1" dirty="0"/>
              <a:t>Tecnologias para elevação do HC;</a:t>
            </a:r>
          </a:p>
          <a:p>
            <a:pPr marL="457200" indent="-457200">
              <a:buFont typeface="+mj-lt"/>
              <a:buAutoNum type="arabicPeriod"/>
            </a:pPr>
            <a:r>
              <a:rPr lang="pt-BR" i="1" dirty="0"/>
              <a:t>Controle de potência reativa;</a:t>
            </a:r>
          </a:p>
          <a:p>
            <a:pPr marL="457200" indent="-457200">
              <a:buFont typeface="+mj-lt"/>
              <a:buAutoNum type="arabicPeriod"/>
            </a:pPr>
            <a:r>
              <a:rPr lang="pt-BR" i="1" dirty="0"/>
              <a:t>Controle de potência ativa;</a:t>
            </a:r>
          </a:p>
          <a:p>
            <a:pPr marL="457200" indent="-457200">
              <a:buFont typeface="+mj-lt"/>
              <a:buAutoNum type="arabicPeriod"/>
            </a:pPr>
            <a:r>
              <a:rPr lang="pt-BR" i="1" dirty="0"/>
              <a:t>Utilização de BESS descentralizados;</a:t>
            </a:r>
          </a:p>
          <a:p>
            <a:pPr marL="457200" indent="-457200">
              <a:buFont typeface="+mj-lt"/>
              <a:buAutoNum type="arabicPeriod"/>
            </a:pPr>
            <a:r>
              <a:rPr lang="pt-BR" i="1" dirty="0"/>
              <a:t>Dimensionar BESS com energia perdida pelo controle VW.</a:t>
            </a:r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5</a:t>
            </a:fld>
            <a:endParaRPr lang="pt-BR" altLang="en-US" dirty="0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6E6B4436-2046-6A22-3E80-01CDC4706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21347"/>
              </p:ext>
            </p:extLst>
          </p:nvPr>
        </p:nvGraphicFramePr>
        <p:xfrm>
          <a:off x="2115970" y="2996952"/>
          <a:ext cx="4907156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98">
                  <a:extLst>
                    <a:ext uri="{9D8B030D-6E8A-4147-A177-3AD203B41FA5}">
                      <a16:colId xmlns:a16="http://schemas.microsoft.com/office/drawing/2014/main" val="145460214"/>
                    </a:ext>
                  </a:extLst>
                </a:gridCol>
                <a:gridCol w="313806">
                  <a:extLst>
                    <a:ext uri="{9D8B030D-6E8A-4147-A177-3AD203B41FA5}">
                      <a16:colId xmlns:a16="http://schemas.microsoft.com/office/drawing/2014/main" val="2040888745"/>
                    </a:ext>
                  </a:extLst>
                </a:gridCol>
                <a:gridCol w="378111">
                  <a:extLst>
                    <a:ext uri="{9D8B030D-6E8A-4147-A177-3AD203B41FA5}">
                      <a16:colId xmlns:a16="http://schemas.microsoft.com/office/drawing/2014/main" val="3023645314"/>
                    </a:ext>
                  </a:extLst>
                </a:gridCol>
                <a:gridCol w="442415">
                  <a:extLst>
                    <a:ext uri="{9D8B030D-6E8A-4147-A177-3AD203B41FA5}">
                      <a16:colId xmlns:a16="http://schemas.microsoft.com/office/drawing/2014/main" val="3367217667"/>
                    </a:ext>
                  </a:extLst>
                </a:gridCol>
                <a:gridCol w="442415">
                  <a:extLst>
                    <a:ext uri="{9D8B030D-6E8A-4147-A177-3AD203B41FA5}">
                      <a16:colId xmlns:a16="http://schemas.microsoft.com/office/drawing/2014/main" val="2501676174"/>
                    </a:ext>
                  </a:extLst>
                </a:gridCol>
                <a:gridCol w="378111">
                  <a:extLst>
                    <a:ext uri="{9D8B030D-6E8A-4147-A177-3AD203B41FA5}">
                      <a16:colId xmlns:a16="http://schemas.microsoft.com/office/drawing/2014/main" val="3148482705"/>
                    </a:ext>
                  </a:extLst>
                </a:gridCol>
              </a:tblGrid>
              <a:tr h="280031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Estudo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289435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effectLst/>
                          <a:latin typeface="+mn-lt"/>
                        </a:rPr>
                        <a:t>(</a:t>
                      </a:r>
                      <a:r>
                        <a:rPr lang="en-US" sz="1600" b="0" i="0" dirty="0" err="1">
                          <a:effectLst/>
                          <a:latin typeface="+mn-lt"/>
                        </a:rPr>
                        <a:t>Rajabi</a:t>
                      </a:r>
                      <a:r>
                        <a:rPr lang="en-US" sz="1600" b="0" i="0" dirty="0">
                          <a:effectLst/>
                          <a:latin typeface="+mn-lt"/>
                        </a:rPr>
                        <a:t> and Elphick [2022])</a:t>
                      </a:r>
                      <a:endParaRPr lang="pt-BR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727981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i="0" dirty="0">
                          <a:effectLst/>
                          <a:latin typeface="+mn-lt"/>
                        </a:rPr>
                        <a:t>(Gandhi et al. [2020])</a:t>
                      </a:r>
                      <a:endParaRPr lang="pt-BR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905779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pt-B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Ustun</a:t>
                      </a:r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Aoto</a:t>
                      </a:r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[2019b])</a:t>
                      </a:r>
                      <a:endParaRPr lang="pt-BR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114770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pt-B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Amuna</a:t>
                      </a:r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 al. [2021])</a:t>
                      </a:r>
                      <a:endParaRPr lang="pt-BR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103784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(Liu et al. [2020]) </a:t>
                      </a:r>
                      <a:endParaRPr lang="pt-BR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734702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pt-B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Leeet</a:t>
                      </a:r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al. [2020])</a:t>
                      </a:r>
                      <a:endParaRPr lang="pt-BR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346020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pt-B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Zeraati</a:t>
                      </a:r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 al. [2019])</a:t>
                      </a:r>
                      <a:endParaRPr lang="pt-BR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93031"/>
                  </a:ext>
                </a:extLst>
              </a:tr>
              <a:tr h="280031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Presente trabalho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+mn-lt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038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83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3245C3D6-237E-9C2D-86E8-258E351144F3}"/>
              </a:ext>
            </a:extLst>
          </p:cNvPr>
          <p:cNvCxnSpPr>
            <a:cxnSpLocks/>
          </p:cNvCxnSpPr>
          <p:nvPr/>
        </p:nvCxnSpPr>
        <p:spPr>
          <a:xfrm>
            <a:off x="4860032" y="2766639"/>
            <a:ext cx="0" cy="2145951"/>
          </a:xfrm>
          <a:prstGeom prst="line">
            <a:avLst/>
          </a:prstGeom>
          <a:ln w="1270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C476B0B4-AED9-E0F3-6055-AFF92441C3EE}"/>
              </a:ext>
            </a:extLst>
          </p:cNvPr>
          <p:cNvCxnSpPr>
            <a:cxnSpLocks/>
          </p:cNvCxnSpPr>
          <p:nvPr/>
        </p:nvCxnSpPr>
        <p:spPr>
          <a:xfrm>
            <a:off x="4267008" y="2780928"/>
            <a:ext cx="0" cy="2160240"/>
          </a:xfrm>
          <a:prstGeom prst="line">
            <a:avLst/>
          </a:prstGeom>
          <a:ln w="1270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3. Figuras</a:t>
            </a:r>
            <a:r>
              <a:rPr lang="en-US" dirty="0"/>
              <a:t> de </a:t>
            </a:r>
            <a:r>
              <a:rPr lang="pt-BR" dirty="0"/>
              <a:t>Mérito</a:t>
            </a:r>
            <a:br>
              <a:rPr lang="pt-BR" dirty="0"/>
            </a:b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i="1" dirty="0"/>
                  <a:t>Hosting </a:t>
                </a:r>
                <a:r>
                  <a:rPr lang="pt-BR" i="1" dirty="0" err="1"/>
                  <a:t>Capacity</a:t>
                </a:r>
                <a:r>
                  <a:rPr lang="pt-BR" i="1" dirty="0"/>
                  <a:t> </a:t>
                </a:r>
                <a:r>
                  <a:rPr lang="pt-BR" dirty="0"/>
                  <a:t>(HC)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344487" lvl="1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HC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=100 </m:t>
                    </m:r>
                    <m:r>
                      <a:rPr lang="pt-B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pt-BR" i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pt-BR" i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i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nom</m:t>
                            </m:r>
                          </m:sub>
                        </m:sSub>
                      </m:den>
                    </m:f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6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6</a:t>
            </a:fld>
            <a:endParaRPr lang="pt-BR" altLang="en-US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1B46FD9-702A-6EF9-C208-787DBCDF8124}"/>
              </a:ext>
            </a:extLst>
          </p:cNvPr>
          <p:cNvCxnSpPr/>
          <p:nvPr/>
        </p:nvCxnSpPr>
        <p:spPr>
          <a:xfrm flipV="1">
            <a:off x="1907704" y="2924944"/>
            <a:ext cx="0" cy="20882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C9AAD3C-88E4-C736-D88E-7CD41053273C}"/>
              </a:ext>
            </a:extLst>
          </p:cNvPr>
          <p:cNvCxnSpPr>
            <a:cxnSpLocks/>
          </p:cNvCxnSpPr>
          <p:nvPr/>
        </p:nvCxnSpPr>
        <p:spPr>
          <a:xfrm>
            <a:off x="1879126" y="5013176"/>
            <a:ext cx="550118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56A46434-0C2C-26A4-4634-A742CC674AEB}"/>
              </a:ext>
            </a:extLst>
          </p:cNvPr>
          <p:cNvSpPr/>
          <p:nvPr/>
        </p:nvSpPr>
        <p:spPr>
          <a:xfrm>
            <a:off x="1852656" y="3555827"/>
            <a:ext cx="107999" cy="1011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31F687F-6785-23A6-5F88-4AE59E396D25}"/>
              </a:ext>
            </a:extLst>
          </p:cNvPr>
          <p:cNvCxnSpPr/>
          <p:nvPr/>
        </p:nvCxnSpPr>
        <p:spPr>
          <a:xfrm>
            <a:off x="4267008" y="3265240"/>
            <a:ext cx="0" cy="648072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E1C3E2D-6882-1A49-4410-9F3F0B6A1079}"/>
              </a:ext>
            </a:extLst>
          </p:cNvPr>
          <p:cNvSpPr txBox="1"/>
          <p:nvPr/>
        </p:nvSpPr>
        <p:spPr>
          <a:xfrm>
            <a:off x="4339016" y="3409256"/>
            <a:ext cx="2952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Operação não permitida 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80BD015F-0B0A-BE6B-FC68-A1483C19FC9F}"/>
              </a:ext>
            </a:extLst>
          </p:cNvPr>
          <p:cNvCxnSpPr/>
          <p:nvPr/>
        </p:nvCxnSpPr>
        <p:spPr>
          <a:xfrm>
            <a:off x="4483032" y="3769296"/>
            <a:ext cx="18722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3C4A2013-864A-B354-6886-1F61FD8DA8A1}"/>
              </a:ext>
            </a:extLst>
          </p:cNvPr>
          <p:cNvCxnSpPr/>
          <p:nvPr/>
        </p:nvCxnSpPr>
        <p:spPr>
          <a:xfrm>
            <a:off x="1763688" y="4005064"/>
            <a:ext cx="5904656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BA3B8CA9-A709-DFE8-78D6-FE65868CE486}"/>
              </a:ext>
            </a:extLst>
          </p:cNvPr>
          <p:cNvSpPr/>
          <p:nvPr/>
        </p:nvSpPr>
        <p:spPr>
          <a:xfrm>
            <a:off x="1852665" y="4473117"/>
            <a:ext cx="107995" cy="1080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530BC74B-DF8F-CC70-06C7-7F827FBE93CC}"/>
              </a:ext>
            </a:extLst>
          </p:cNvPr>
          <p:cNvCxnSpPr/>
          <p:nvPr/>
        </p:nvCxnSpPr>
        <p:spPr>
          <a:xfrm>
            <a:off x="4860032" y="4189452"/>
            <a:ext cx="0" cy="648072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8DF135D-9791-5DAD-4A41-F4FC79BBE599}"/>
              </a:ext>
            </a:extLst>
          </p:cNvPr>
          <p:cNvSpPr txBox="1"/>
          <p:nvPr/>
        </p:nvSpPr>
        <p:spPr>
          <a:xfrm>
            <a:off x="4860032" y="4353129"/>
            <a:ext cx="2952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Operação não permitida 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AE39B045-4C2E-54F8-7AC0-71422F48690E}"/>
              </a:ext>
            </a:extLst>
          </p:cNvPr>
          <p:cNvCxnSpPr/>
          <p:nvPr/>
        </p:nvCxnSpPr>
        <p:spPr>
          <a:xfrm>
            <a:off x="4964955" y="4725144"/>
            <a:ext cx="18722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555BE4B-E20B-FDE5-998D-DD7C9D0B7A9E}"/>
              </a:ext>
            </a:extLst>
          </p:cNvPr>
          <p:cNvSpPr txBox="1"/>
          <p:nvPr/>
        </p:nvSpPr>
        <p:spPr>
          <a:xfrm>
            <a:off x="532430" y="3439411"/>
            <a:ext cx="1368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HC da rede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C71028A-7DCB-BADB-2BEA-B8C88F93E137}"/>
              </a:ext>
            </a:extLst>
          </p:cNvPr>
          <p:cNvSpPr txBox="1"/>
          <p:nvPr/>
        </p:nvSpPr>
        <p:spPr>
          <a:xfrm>
            <a:off x="457200" y="4265510"/>
            <a:ext cx="1436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HC da rede após melhorias  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F8F1A57-1828-F5CD-B6C3-8A07076569A1}"/>
              </a:ext>
            </a:extLst>
          </p:cNvPr>
          <p:cNvSpPr txBox="1"/>
          <p:nvPr/>
        </p:nvSpPr>
        <p:spPr>
          <a:xfrm>
            <a:off x="3124836" y="5125555"/>
            <a:ext cx="3009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Quantidade de geração distribuída (HC)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8D7EABB9-B75F-46AB-E30E-4C04244A46E8}"/>
              </a:ext>
            </a:extLst>
          </p:cNvPr>
          <p:cNvCxnSpPr/>
          <p:nvPr/>
        </p:nvCxnSpPr>
        <p:spPr>
          <a:xfrm>
            <a:off x="4267008" y="4837524"/>
            <a:ext cx="593024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D7EC9061-ED11-4014-E30E-D4F2AC3FAF7C}"/>
              </a:ext>
            </a:extLst>
          </p:cNvPr>
          <p:cNvCxnSpPr>
            <a:cxnSpLocks/>
          </p:cNvCxnSpPr>
          <p:nvPr/>
        </p:nvCxnSpPr>
        <p:spPr>
          <a:xfrm flipH="1" flipV="1">
            <a:off x="3569499" y="3265240"/>
            <a:ext cx="1002500" cy="15722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>
            <a:extLst>
              <a:ext uri="{FF2B5EF4-FFF2-40B4-BE49-F238E27FC236}">
                <a16:creationId xmlns:a16="http://schemas.microsoft.com/office/drawing/2014/main" id="{FC85F967-8998-6141-E10E-C1DFC392534A}"/>
              </a:ext>
            </a:extLst>
          </p:cNvPr>
          <p:cNvSpPr/>
          <p:nvPr/>
        </p:nvSpPr>
        <p:spPr>
          <a:xfrm>
            <a:off x="2267744" y="2757802"/>
            <a:ext cx="1495186" cy="6283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Capacidade</a:t>
            </a:r>
            <a:r>
              <a:rPr lang="en-US" sz="1200" dirty="0"/>
              <a:t> extra de </a:t>
            </a:r>
            <a:r>
              <a:rPr lang="en-US" sz="1200" dirty="0" err="1"/>
              <a:t>gera</a:t>
            </a:r>
            <a:r>
              <a:rPr lang="pt-BR" sz="1200" dirty="0"/>
              <a:t>ç</a:t>
            </a:r>
            <a:r>
              <a:rPr lang="en-US" sz="1200" dirty="0" err="1"/>
              <a:t>ão</a:t>
            </a:r>
            <a:r>
              <a:rPr lang="en-US" sz="1200" dirty="0"/>
              <a:t>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49725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4.07407E-6 L 0.25816 4.0740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4.81481E-6 L 0.32291 4.81481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4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3" grpId="0" animBg="1"/>
      <p:bldP spid="27" grpId="0"/>
      <p:bldP spid="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Limites operacionais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7</a:t>
            </a:fld>
            <a:endParaRPr lang="pt-BR" altLang="en-US" dirty="0"/>
          </a:p>
        </p:txBody>
      </p:sp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F4EEF6DB-3473-D830-3EBA-C6C462DD7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037897"/>
              </p:ext>
            </p:extLst>
          </p:nvPr>
        </p:nvGraphicFramePr>
        <p:xfrm>
          <a:off x="457200" y="3419626"/>
          <a:ext cx="82296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15570529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777758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Condição de 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481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Fornecimento 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Tensão entre 0,92pu e 1,05pu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935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Fornecimento Precário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Subtensão: Valores entre 0,86pu e 0,92pu;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Sobretensão: Valores entre 1,05pu e 1,06pu.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23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Fornecimento Critico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Subtensão: Valores menores que 0,86pu;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pt-BR" sz="1400" dirty="0"/>
                        <a:t>Sobretensão: Maiores que1,06pu.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78403"/>
                  </a:ext>
                </a:extLst>
              </a:tr>
            </a:tbl>
          </a:graphicData>
        </a:graphic>
      </p:graphicFrame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5EBF255-1292-B6C6-D9D2-B0915A09204A}"/>
              </a:ext>
            </a:extLst>
          </p:cNvPr>
          <p:cNvSpPr/>
          <p:nvPr/>
        </p:nvSpPr>
        <p:spPr>
          <a:xfrm>
            <a:off x="1079612" y="1052053"/>
            <a:ext cx="162018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/>
              <a:t>Violação de Corrente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2A124C3F-B8D5-1D60-DFFF-8B614BFAA0AD}"/>
              </a:ext>
            </a:extLst>
          </p:cNvPr>
          <p:cNvSpPr/>
          <p:nvPr/>
        </p:nvSpPr>
        <p:spPr>
          <a:xfrm>
            <a:off x="3761910" y="1052053"/>
            <a:ext cx="162018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/>
              <a:t>Flutuação de Tensão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63E002C-B0DE-330A-18DB-0F88E4B12C32}"/>
              </a:ext>
            </a:extLst>
          </p:cNvPr>
          <p:cNvSpPr/>
          <p:nvPr/>
        </p:nvSpPr>
        <p:spPr>
          <a:xfrm>
            <a:off x="6444208" y="1054973"/>
            <a:ext cx="162018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/>
              <a:t>Desequilíbrio de Tensão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E038CEC-8226-7B74-1174-AB28DBF18192}"/>
              </a:ext>
            </a:extLst>
          </p:cNvPr>
          <p:cNvSpPr txBox="1"/>
          <p:nvPr/>
        </p:nvSpPr>
        <p:spPr>
          <a:xfrm>
            <a:off x="1061610" y="2618807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Corrente</a:t>
            </a:r>
          </a:p>
          <a:p>
            <a:pPr algn="ctr"/>
            <a:r>
              <a:rPr lang="pt-BR" dirty="0"/>
              <a:t>Nominal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62395AB-5EF4-D926-BF97-847A7579FF3C}"/>
              </a:ext>
            </a:extLst>
          </p:cNvPr>
          <p:cNvSpPr txBox="1"/>
          <p:nvPr/>
        </p:nvSpPr>
        <p:spPr>
          <a:xfrm>
            <a:off x="6501487" y="2618806"/>
            <a:ext cx="1505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Maior </a:t>
            </a:r>
          </a:p>
          <a:p>
            <a:pPr algn="ctr"/>
            <a:r>
              <a:rPr lang="pt-BR" dirty="0"/>
              <a:t>que 3%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1FB58C8-5C7B-F873-CA92-4175E1F84B31}"/>
              </a:ext>
            </a:extLst>
          </p:cNvPr>
          <p:cNvCxnSpPr>
            <a:cxnSpLocks/>
          </p:cNvCxnSpPr>
          <p:nvPr/>
        </p:nvCxnSpPr>
        <p:spPr>
          <a:xfrm>
            <a:off x="1893965" y="2071370"/>
            <a:ext cx="884" cy="4978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88A9D852-24EE-D9BC-E773-4A07E955DE35}"/>
              </a:ext>
            </a:extLst>
          </p:cNvPr>
          <p:cNvCxnSpPr>
            <a:cxnSpLocks/>
          </p:cNvCxnSpPr>
          <p:nvPr/>
        </p:nvCxnSpPr>
        <p:spPr>
          <a:xfrm>
            <a:off x="7254014" y="2068491"/>
            <a:ext cx="884" cy="4978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91D56991-065A-E7DC-A34F-2C4F4E14CBCC}"/>
              </a:ext>
            </a:extLst>
          </p:cNvPr>
          <p:cNvCxnSpPr>
            <a:cxnSpLocks/>
          </p:cNvCxnSpPr>
          <p:nvPr/>
        </p:nvCxnSpPr>
        <p:spPr>
          <a:xfrm>
            <a:off x="4571116" y="2068491"/>
            <a:ext cx="0" cy="12071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CC6B7D7D-B793-6140-361F-93D0DCF59DE1}"/>
              </a:ext>
            </a:extLst>
          </p:cNvPr>
          <p:cNvSpPr txBox="1"/>
          <p:nvPr/>
        </p:nvSpPr>
        <p:spPr>
          <a:xfrm flipH="1">
            <a:off x="585270" y="5543521"/>
            <a:ext cx="758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Nota: </a:t>
            </a:r>
            <a:r>
              <a:rPr lang="en-US" dirty="0" err="1">
                <a:solidFill>
                  <a:srgbClr val="FF0000"/>
                </a:solidFill>
              </a:rPr>
              <a:t>Violação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ocorre</a:t>
            </a:r>
            <a:r>
              <a:rPr lang="en-US" dirty="0">
                <a:solidFill>
                  <a:srgbClr val="FF0000"/>
                </a:solidFill>
              </a:rPr>
              <a:t> se o </a:t>
            </a:r>
            <a:r>
              <a:rPr lang="en-US" dirty="0" err="1">
                <a:solidFill>
                  <a:srgbClr val="FF0000"/>
                </a:solidFill>
              </a:rPr>
              <a:t>evento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durar</a:t>
            </a:r>
            <a:r>
              <a:rPr lang="en-US" dirty="0">
                <a:solidFill>
                  <a:srgbClr val="FF0000"/>
                </a:solidFill>
              </a:rPr>
              <a:t> 5% do tempo de </a:t>
            </a:r>
            <a:r>
              <a:rPr lang="en-US" dirty="0" err="1">
                <a:solidFill>
                  <a:srgbClr val="FF0000"/>
                </a:solidFill>
              </a:rPr>
              <a:t>simula</a:t>
            </a:r>
            <a:r>
              <a:rPr lang="pt-BR" dirty="0" err="1">
                <a:solidFill>
                  <a:srgbClr val="FF0000"/>
                </a:solidFill>
              </a:rPr>
              <a:t>ção</a:t>
            </a:r>
            <a:r>
              <a:rPr lang="pt-BR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890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Controles de potência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8</a:t>
            </a:fld>
            <a:endParaRPr lang="pt-BR" altLang="en-US" dirty="0"/>
          </a:p>
        </p:txBody>
      </p:sp>
      <p:pic>
        <p:nvPicPr>
          <p:cNvPr id="11" name="Imagem 10" descr="Gráfico de linhas&#10;&#10;Descrição gerada automaticamente com confiança média">
            <a:extLst>
              <a:ext uri="{FF2B5EF4-FFF2-40B4-BE49-F238E27FC236}">
                <a16:creationId xmlns:a16="http://schemas.microsoft.com/office/drawing/2014/main" id="{4A97172E-768B-2243-DBDE-69CC1636B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124744"/>
            <a:ext cx="7056784" cy="4754838"/>
          </a:xfrm>
          <a:prstGeom prst="rect">
            <a:avLst/>
          </a:prstGeom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2D219F8D-D6A5-90B9-08B7-73710BD50CCA}"/>
              </a:ext>
            </a:extLst>
          </p:cNvPr>
          <p:cNvSpPr/>
          <p:nvPr/>
        </p:nvSpPr>
        <p:spPr>
          <a:xfrm>
            <a:off x="5953105" y="2676988"/>
            <a:ext cx="360040" cy="36004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6325E1D7-83E6-044D-E92A-97C4B60DEDBD}"/>
              </a:ext>
            </a:extLst>
          </p:cNvPr>
          <p:cNvCxnSpPr/>
          <p:nvPr/>
        </p:nvCxnSpPr>
        <p:spPr>
          <a:xfrm flipH="1">
            <a:off x="6372200" y="2564904"/>
            <a:ext cx="792088" cy="216024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6F2787C-73B0-A5AE-7A01-6DC931817E96}"/>
              </a:ext>
            </a:extLst>
          </p:cNvPr>
          <p:cNvSpPr txBox="1"/>
          <p:nvPr/>
        </p:nvSpPr>
        <p:spPr>
          <a:xfrm>
            <a:off x="7223343" y="2202057"/>
            <a:ext cx="517009" cy="64633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15%</a:t>
            </a:r>
          </a:p>
          <a:p>
            <a:r>
              <a:rPr lang="pt-BR" sz="1200" b="1" dirty="0">
                <a:solidFill>
                  <a:srgbClr val="FF0000"/>
                </a:solidFill>
              </a:rPr>
              <a:t>30% </a:t>
            </a:r>
          </a:p>
          <a:p>
            <a:r>
              <a:rPr lang="pt-BR" sz="1200" b="1" dirty="0">
                <a:solidFill>
                  <a:srgbClr val="FF0000"/>
                </a:solidFill>
              </a:rPr>
              <a:t>50%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0C3B81F9-E045-D9DC-31C8-FDD1AA4BE5B7}"/>
              </a:ext>
            </a:extLst>
          </p:cNvPr>
          <p:cNvCxnSpPr>
            <a:cxnSpLocks/>
          </p:cNvCxnSpPr>
          <p:nvPr/>
        </p:nvCxnSpPr>
        <p:spPr>
          <a:xfrm flipH="1" flipV="1">
            <a:off x="6935924" y="5004010"/>
            <a:ext cx="936104" cy="72008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4BAADBF-03AA-258F-AAB1-D545C9FD60D6}"/>
              </a:ext>
            </a:extLst>
          </p:cNvPr>
          <p:cNvSpPr txBox="1"/>
          <p:nvPr/>
        </p:nvSpPr>
        <p:spPr>
          <a:xfrm>
            <a:off x="7895692" y="5731916"/>
            <a:ext cx="432048" cy="2769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VV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9DA7844-9320-BE67-1666-1A5BCA1A2FC6}"/>
              </a:ext>
            </a:extLst>
          </p:cNvPr>
          <p:cNvCxnSpPr>
            <a:cxnSpLocks/>
          </p:cNvCxnSpPr>
          <p:nvPr/>
        </p:nvCxnSpPr>
        <p:spPr>
          <a:xfrm flipH="1" flipV="1">
            <a:off x="6935924" y="3064377"/>
            <a:ext cx="936104" cy="72008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CB4E6E5-0E9C-E032-E9C3-7CDB4FDA0F62}"/>
              </a:ext>
            </a:extLst>
          </p:cNvPr>
          <p:cNvSpPr txBox="1"/>
          <p:nvPr/>
        </p:nvSpPr>
        <p:spPr>
          <a:xfrm>
            <a:off x="7895692" y="3792283"/>
            <a:ext cx="432048" cy="2769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VW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C4CF879-DD50-1AF7-C86E-1586E5DC07D8}"/>
              </a:ext>
            </a:extLst>
          </p:cNvPr>
          <p:cNvSpPr txBox="1"/>
          <p:nvPr/>
        </p:nvSpPr>
        <p:spPr>
          <a:xfrm>
            <a:off x="3635896" y="5333162"/>
            <a:ext cx="549246" cy="27699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1pu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0A7DA80-4844-485C-0AA1-B2CD5FCA7785}"/>
              </a:ext>
            </a:extLst>
          </p:cNvPr>
          <p:cNvSpPr txBox="1"/>
          <p:nvPr/>
        </p:nvSpPr>
        <p:spPr>
          <a:xfrm flipH="1">
            <a:off x="3579778" y="2220321"/>
            <a:ext cx="661482" cy="344037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txBody>
          <a:bodyPr wrap="square" rtlCol="0">
            <a:spAutoFit/>
          </a:bodyPr>
          <a:lstStyle/>
          <a:p>
            <a:endParaRPr lang="pt-BR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15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  <p:bldP spid="10" grpId="0" animBg="1"/>
      <p:bldP spid="10" grpId="1" animBg="1"/>
      <p:bldP spid="13" grpId="0" animBg="1"/>
      <p:bldP spid="13" grpId="1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Dimensionamento do BESS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9</a:t>
            </a:fld>
            <a:endParaRPr lang="pt-B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B6AA67E-9F23-EEC1-3CC6-A15509833757}"/>
                  </a:ext>
                </a:extLst>
              </p:cNvPr>
              <p:cNvSpPr txBox="1"/>
              <p:nvPr/>
            </p:nvSpPr>
            <p:spPr>
              <a:xfrm>
                <a:off x="3029429" y="1680843"/>
                <a:ext cx="36327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𝐵𝐸𝑆𝑆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𝑀𝑎𝑥𝑃𝑜𝑡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𝑘𝑊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⁡{ 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𝑃𝑉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𝑃𝑜𝑡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 }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B6AA67E-9F23-EEC1-3CC6-A15509833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429" y="1680843"/>
                <a:ext cx="3632789" cy="276999"/>
              </a:xfrm>
              <a:prstGeom prst="rect">
                <a:avLst/>
              </a:prstGeom>
              <a:blipFill>
                <a:blip r:embed="rId4"/>
                <a:stretch>
                  <a:fillRect l="-1007" t="-2222" r="-1678" b="-4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89FE55D-79A3-31EE-038E-2AE676D87E91}"/>
                  </a:ext>
                </a:extLst>
              </p:cNvPr>
              <p:cNvSpPr txBox="1"/>
              <p:nvPr/>
            </p:nvSpPr>
            <p:spPr>
              <a:xfrm>
                <a:off x="2169707" y="2733017"/>
                <a:ext cx="5505353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𝐵𝐸𝑆𝑆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𝐸𝑛𝑒𝑟𝑔𝑖𝑎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𝑘𝑊h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 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𝑃𝑜𝑡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𝑘𝑊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𝐷𝑢𝑟𝑎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89FE55D-79A3-31EE-038E-2AE676D87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707" y="2733017"/>
                <a:ext cx="5505353" cy="7564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F18545E-B92F-04C1-C554-13417514BE05}"/>
                  </a:ext>
                </a:extLst>
              </p:cNvPr>
              <p:cNvSpPr txBox="1"/>
              <p:nvPr/>
            </p:nvSpPr>
            <p:spPr>
              <a:xfrm>
                <a:off x="2439717" y="4264618"/>
                <a:ext cx="4264565" cy="584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𝐵𝐸𝑆𝑆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𝐶𝑎𝑝𝑎𝑐𝑖𝑡𝑦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𝑘𝑊h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𝐵𝐸𝑆𝑆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𝐸𝑛𝑒𝑟𝑔𝑖𝑎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𝑘𝑊h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𝐷𝑜𝐷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𝐸𝑓𝑓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(%)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F18545E-B92F-04C1-C554-13417514B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717" y="4264618"/>
                <a:ext cx="4264565" cy="584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16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Dimensionamento do BESS - KPIs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10</a:t>
            </a:fld>
            <a:endParaRPr lang="pt-B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89FE55D-79A3-31EE-038E-2AE676D87E91}"/>
                  </a:ext>
                </a:extLst>
              </p:cNvPr>
              <p:cNvSpPr txBox="1"/>
              <p:nvPr/>
            </p:nvSpPr>
            <p:spPr>
              <a:xfrm>
                <a:off x="2145951" y="4166232"/>
                <a:ext cx="4852098" cy="5745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𝐶𝐶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𝐸𝑛𝑒𝑟𝑔𝑖𝑎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𝑠𝑒𝑟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𝑙𝑖𝑚𝑖𝑡𝑎𝑑𝑎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𝑖𝑛𝑣𝑒𝑟𝑠𝑜𝑟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𝐸𝑛𝑒𝑟𝑔𝑖𝑎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𝑠𝑢𝑝𝑒𝑟𝑖𝑜𝑟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𝑎𝑜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𝐻𝐶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𝑖𝑛𝑖𝑐𝑖𝑎𝑙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89FE55D-79A3-31EE-038E-2AE676D87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951" y="4166232"/>
                <a:ext cx="4852098" cy="5745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F18545E-B92F-04C1-C554-13417514BE05}"/>
                  </a:ext>
                </a:extLst>
              </p:cNvPr>
              <p:cNvSpPr txBox="1"/>
              <p:nvPr/>
            </p:nvSpPr>
            <p:spPr>
              <a:xfrm>
                <a:off x="3407418" y="3204567"/>
                <a:ext cx="2329164" cy="5824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𝑃𝑉𝐿𝑜𝑎𝑑𝑅𝑎𝑡𝑖𝑜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𝑃𝑉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F18545E-B92F-04C1-C554-13417514B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418" y="3204567"/>
                <a:ext cx="2329164" cy="5824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9F127362-D6FE-A2BD-47F4-87A0885C5FF3}"/>
                  </a:ext>
                </a:extLst>
              </p:cNvPr>
              <p:cNvSpPr txBox="1"/>
              <p:nvPr/>
            </p:nvSpPr>
            <p:spPr>
              <a:xfrm>
                <a:off x="3297324" y="1268760"/>
                <a:ext cx="2549352" cy="5981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i="1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𝐵𝐸𝑆𝑆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𝑀𝑎𝑥𝑃𝑜𝑡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𝐵𝐸𝑆𝑆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𝐶𝑎𝑝𝑎𝑐𝑖𝑡𝑦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9F127362-D6FE-A2BD-47F4-87A0885C5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324" y="1268760"/>
                <a:ext cx="2549352" cy="598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9AF0C60-D2F4-13E2-73AB-A06AB0F5212C}"/>
                  </a:ext>
                </a:extLst>
              </p:cNvPr>
              <p:cNvSpPr txBox="1"/>
              <p:nvPr/>
            </p:nvSpPr>
            <p:spPr>
              <a:xfrm>
                <a:off x="3077808" y="2254610"/>
                <a:ext cx="2940869" cy="567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𝐸𝑆𝑆𝑃𝑉𝑅𝑎𝑡𝑖𝑜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𝐵𝐸𝑆𝑆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𝑀𝑎𝑥𝑃𝑜𝑡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𝑃𝑉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𝑃𝑜𝑡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9AF0C60-D2F4-13E2-73AB-A06AB0F5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808" y="2254610"/>
                <a:ext cx="2940869" cy="5672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eta: Curva para a Direita 5">
            <a:extLst>
              <a:ext uri="{FF2B5EF4-FFF2-40B4-BE49-F238E27FC236}">
                <a16:creationId xmlns:a16="http://schemas.microsoft.com/office/drawing/2014/main" id="{EA91D101-38C0-EE0C-C82F-4D3E518CDEEB}"/>
              </a:ext>
            </a:extLst>
          </p:cNvPr>
          <p:cNvSpPr/>
          <p:nvPr/>
        </p:nvSpPr>
        <p:spPr>
          <a:xfrm>
            <a:off x="323528" y="4453490"/>
            <a:ext cx="504056" cy="1224136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98AF42A-E3DF-E851-8F25-F08762C47AEB}"/>
                  </a:ext>
                </a:extLst>
              </p:cNvPr>
              <p:cNvSpPr txBox="1"/>
              <p:nvPr/>
            </p:nvSpPr>
            <p:spPr>
              <a:xfrm>
                <a:off x="1006311" y="5233176"/>
                <a:ext cx="3541932" cy="559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𝐻𝐶𝐶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𝑉𝑊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BR">
                              <a:solidFill>
                                <a:srgbClr val="FF0000"/>
                              </a:solidFill>
                            </a:rPr>
                            <m:t>326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rgbClr val="FF0000"/>
                              </a:solidFill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pt-BR">
                              <a:solidFill>
                                <a:srgbClr val="FF0000"/>
                              </a:solidFill>
                            </a:rPr>
                            <m:t>81 </m:t>
                          </m:r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𝑊h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52,73 </m:t>
                          </m:r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𝑊h</m:t>
                          </m:r>
                        </m:den>
                      </m:f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=6,18%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98AF42A-E3DF-E851-8F25-F08762C47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311" y="5233176"/>
                <a:ext cx="3541932" cy="5599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D08A876-5A60-655F-A856-58757A2C7ED8}"/>
                  </a:ext>
                </a:extLst>
              </p:cNvPr>
              <p:cNvSpPr txBox="1"/>
              <p:nvPr/>
            </p:nvSpPr>
            <p:spPr>
              <a:xfrm>
                <a:off x="4726970" y="5226831"/>
                <a:ext cx="3854773" cy="5599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𝐻𝐶𝐶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pt-B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𝑉𝑊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rgbClr val="FF0000"/>
                              </a:solidFill>
                            </a:rPr>
                            <m:t>90,96</m:t>
                          </m:r>
                          <m:r>
                            <m:rPr>
                              <m:nor/>
                            </m:rPr>
                            <a:rPr lang="pt-BR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𝑊h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122,73 </m:t>
                          </m:r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𝑊h</m:t>
                          </m:r>
                        </m:den>
                      </m:f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=0,74%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D08A876-5A60-655F-A856-58757A2C7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970" y="5226831"/>
                <a:ext cx="3854773" cy="5599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47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3" grpId="0"/>
      <p:bldP spid="5" grpId="0"/>
      <p:bldP spid="6" grpId="0" animBg="1"/>
      <p:bldP spid="7" grpId="0"/>
      <p:bldP spid="7" grpId="1"/>
      <p:bldP spid="11" grpId="0"/>
      <p:bldP spid="11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pacitação em OpenDSS – G-SEPi">
            <a:extLst>
              <a:ext uri="{FF2B5EF4-FFF2-40B4-BE49-F238E27FC236}">
                <a16:creationId xmlns:a16="http://schemas.microsoft.com/office/drawing/2014/main" id="{B7500CD7-5138-7155-582D-9B9081CB3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460" y="3393270"/>
            <a:ext cx="2104800" cy="170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da Ferramenta</a:t>
            </a:r>
            <a:endParaRPr lang="pt-BR" i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11</a:t>
            </a:fld>
            <a:endParaRPr lang="pt-BR" altLang="en-US" dirty="0"/>
          </a:p>
        </p:txBody>
      </p:sp>
      <p:pic>
        <p:nvPicPr>
          <p:cNvPr id="1028" name="Picture 4" descr="What is Python Coding?">
            <a:extLst>
              <a:ext uri="{FF2B5EF4-FFF2-40B4-BE49-F238E27FC236}">
                <a16:creationId xmlns:a16="http://schemas.microsoft.com/office/drawing/2014/main" id="{D09E57DF-FF72-7D13-0163-34908144C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219" y="1055476"/>
            <a:ext cx="2171561" cy="2171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rquivos Microsoft Sql Server - 2F Consultoria - Tecnologia transformando  seu negócio">
            <a:extLst>
              <a:ext uri="{FF2B5EF4-FFF2-40B4-BE49-F238E27FC236}">
                <a16:creationId xmlns:a16="http://schemas.microsoft.com/office/drawing/2014/main" id="{E442BFD8-A813-EB4C-9F66-6345164DD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260746"/>
            <a:ext cx="2228412" cy="179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09321073-4D55-6BA5-DC5E-ADEB5303F31E}"/>
              </a:ext>
            </a:extLst>
          </p:cNvPr>
          <p:cNvCxnSpPr/>
          <p:nvPr/>
        </p:nvCxnSpPr>
        <p:spPr>
          <a:xfrm flipH="1">
            <a:off x="2771800" y="2348880"/>
            <a:ext cx="1224136" cy="1224136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44919AB-80EC-7B43-F35F-DF6F8A1192F8}"/>
              </a:ext>
            </a:extLst>
          </p:cNvPr>
          <p:cNvCxnSpPr>
            <a:cxnSpLocks/>
          </p:cNvCxnSpPr>
          <p:nvPr/>
        </p:nvCxnSpPr>
        <p:spPr>
          <a:xfrm>
            <a:off x="5148066" y="2348880"/>
            <a:ext cx="1405134" cy="108012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97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Logica Proposta – Definição de termos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pt-BR" dirty="0"/>
              <a:t>Simulação</a:t>
            </a:r>
          </a:p>
          <a:p>
            <a:pPr lvl="1">
              <a:spcAft>
                <a:spcPts val="1800"/>
              </a:spcAft>
            </a:pPr>
            <a:r>
              <a:rPr lang="pt-BR" dirty="0"/>
              <a:t>Define a disposição dos geradores na rede;</a:t>
            </a:r>
          </a:p>
          <a:p>
            <a:pPr lvl="1">
              <a:spcAft>
                <a:spcPts val="1800"/>
              </a:spcAft>
            </a:pPr>
            <a:r>
              <a:rPr lang="pt-BR" dirty="0"/>
              <a:t>20% de penetração de PV – 6 unidades.</a:t>
            </a:r>
          </a:p>
          <a:p>
            <a:pPr>
              <a:spcAft>
                <a:spcPts val="1800"/>
              </a:spcAft>
            </a:pPr>
            <a:r>
              <a:rPr lang="pt-BR" sz="1800" dirty="0"/>
              <a:t>Caso</a:t>
            </a:r>
          </a:p>
          <a:p>
            <a:pPr lvl="1">
              <a:spcAft>
                <a:spcPts val="1800"/>
              </a:spcAft>
            </a:pPr>
            <a:r>
              <a:rPr lang="pt-BR" sz="1600" dirty="0"/>
              <a:t>Avalia a simulação sob diferentes cenários, sendo:</a:t>
            </a:r>
          </a:p>
          <a:p>
            <a:pPr lvl="2">
              <a:spcAft>
                <a:spcPts val="1800"/>
              </a:spcAft>
            </a:pPr>
            <a:r>
              <a:rPr lang="pt-BR" sz="1400" dirty="0"/>
              <a:t>Caso 1 – Sem unidades PV;</a:t>
            </a:r>
          </a:p>
          <a:p>
            <a:pPr lvl="2">
              <a:spcAft>
                <a:spcPts val="1800"/>
              </a:spcAft>
            </a:pPr>
            <a:r>
              <a:rPr lang="pt-BR" sz="1400" dirty="0"/>
              <a:t>Caso 2 – Com unidades PV e sem controle de potência;</a:t>
            </a:r>
          </a:p>
          <a:p>
            <a:pPr lvl="2">
              <a:spcAft>
                <a:spcPts val="1800"/>
              </a:spcAft>
            </a:pPr>
            <a:r>
              <a:rPr lang="pt-BR" sz="1400" dirty="0"/>
              <a:t>Caso 3 – Com unidades PV e com controle VV;</a:t>
            </a:r>
          </a:p>
          <a:p>
            <a:pPr lvl="2">
              <a:spcAft>
                <a:spcPts val="1800"/>
              </a:spcAft>
            </a:pPr>
            <a:r>
              <a:rPr lang="pt-BR" sz="1400" dirty="0"/>
              <a:t>Caso 4 – Com unidades PV e controle VW;</a:t>
            </a:r>
          </a:p>
          <a:p>
            <a:pPr lvl="2">
              <a:spcAft>
                <a:spcPts val="1800"/>
              </a:spcAft>
            </a:pPr>
            <a:r>
              <a:rPr lang="pt-BR" sz="1400" dirty="0"/>
              <a:t>Caso 5 – Com unidades PV e controles VV e VW.</a:t>
            </a:r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12</a:t>
            </a:fld>
            <a:endParaRPr lang="pt-BR" altLang="en-US" dirty="0"/>
          </a:p>
        </p:txBody>
      </p:sp>
    </p:spTree>
    <p:extLst>
      <p:ext uri="{BB962C8B-B14F-4D97-AF65-F5344CB8AC3E}">
        <p14:creationId xmlns:p14="http://schemas.microsoft.com/office/powerpoint/2010/main" val="107262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Lógica proposta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13</a:t>
            </a:fld>
            <a:endParaRPr lang="pt-BR" alt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1FEAC70-9234-FFF6-11ED-ED7C717ED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277813"/>
            <a:ext cx="4031144" cy="5820221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30456D82-8384-4C03-0A62-81466F3696F6}"/>
              </a:ext>
            </a:extLst>
          </p:cNvPr>
          <p:cNvSpPr/>
          <p:nvPr/>
        </p:nvSpPr>
        <p:spPr>
          <a:xfrm>
            <a:off x="5796136" y="188640"/>
            <a:ext cx="1368152" cy="108012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1991575-1420-6BD5-1504-432BC95961B4}"/>
              </a:ext>
            </a:extLst>
          </p:cNvPr>
          <p:cNvSpPr/>
          <p:nvPr/>
        </p:nvSpPr>
        <p:spPr>
          <a:xfrm>
            <a:off x="5724128" y="1357932"/>
            <a:ext cx="2520280" cy="185504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06CC746-C039-6E91-C391-8C2206604AE6}"/>
              </a:ext>
            </a:extLst>
          </p:cNvPr>
          <p:cNvSpPr/>
          <p:nvPr/>
        </p:nvSpPr>
        <p:spPr>
          <a:xfrm>
            <a:off x="4211960" y="2431058"/>
            <a:ext cx="2880320" cy="35182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3ED8A24-E89A-0078-029A-A07EC244C22E}"/>
              </a:ext>
            </a:extLst>
          </p:cNvPr>
          <p:cNvSpPr/>
          <p:nvPr/>
        </p:nvSpPr>
        <p:spPr>
          <a:xfrm>
            <a:off x="6037496" y="4941167"/>
            <a:ext cx="2133600" cy="116462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86764A9-68F6-E3AA-78E4-F78092927730}"/>
              </a:ext>
            </a:extLst>
          </p:cNvPr>
          <p:cNvSpPr/>
          <p:nvPr/>
        </p:nvSpPr>
        <p:spPr>
          <a:xfrm>
            <a:off x="4047830" y="1081109"/>
            <a:ext cx="3044449" cy="116462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spaço Reservado para Conteúdo 2">
            <a:extLst>
              <a:ext uri="{FF2B5EF4-FFF2-40B4-BE49-F238E27FC236}">
                <a16:creationId xmlns:a16="http://schemas.microsoft.com/office/drawing/2014/main" id="{4A452BF8-6C47-426F-8686-42F0FEE84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234" y="1289421"/>
            <a:ext cx="3744416" cy="518882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pt-BR" dirty="0"/>
              <a:t>Identificação da Rede;</a:t>
            </a:r>
            <a:endParaRPr lang="pt-BR" sz="1400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24" name="Espaço Reservado para Conteúdo 2">
            <a:extLst>
              <a:ext uri="{FF2B5EF4-FFF2-40B4-BE49-F238E27FC236}">
                <a16:creationId xmlns:a16="http://schemas.microsoft.com/office/drawing/2014/main" id="{F4E81502-ED93-A92B-75C3-CBF7C6704F7E}"/>
              </a:ext>
            </a:extLst>
          </p:cNvPr>
          <p:cNvSpPr txBox="1">
            <a:spLocks/>
          </p:cNvSpPr>
          <p:nvPr/>
        </p:nvSpPr>
        <p:spPr bwMode="auto">
          <a:xfrm>
            <a:off x="380234" y="2182665"/>
            <a:ext cx="3744416" cy="51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pt-BR" dirty="0"/>
              <a:t>Dinâmica exploratório;</a:t>
            </a:r>
          </a:p>
          <a:p>
            <a:pPr marL="0" indent="0">
              <a:spcAft>
                <a:spcPts val="1800"/>
              </a:spcAft>
              <a:buFont typeface="Wingdings" panose="05000000000000000000" pitchFamily="2" charset="2"/>
              <a:buNone/>
            </a:pPr>
            <a:endParaRPr lang="pt-BR" sz="1400" dirty="0"/>
          </a:p>
          <a:p>
            <a:pPr marL="0" indent="0">
              <a:buFont typeface="Wingdings" panose="05000000000000000000" pitchFamily="2" charset="2"/>
              <a:buNone/>
            </a:pPr>
            <a:endParaRPr lang="pt-BR" i="1" dirty="0"/>
          </a:p>
          <a:p>
            <a:pPr marL="0" indent="0">
              <a:buFont typeface="Wingdings" panose="05000000000000000000" pitchFamily="2" charset="2"/>
              <a:buNone/>
            </a:pPr>
            <a:endParaRPr lang="pt-BR" i="1" dirty="0"/>
          </a:p>
          <a:p>
            <a:pPr marL="0" indent="0">
              <a:buFont typeface="Wingdings" panose="05000000000000000000" pitchFamily="2" charset="2"/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25" name="Espaço Reservado para Conteúdo 2">
            <a:extLst>
              <a:ext uri="{FF2B5EF4-FFF2-40B4-BE49-F238E27FC236}">
                <a16:creationId xmlns:a16="http://schemas.microsoft.com/office/drawing/2014/main" id="{1399EC5F-27F7-9FAA-508E-5974C53F9B9A}"/>
              </a:ext>
            </a:extLst>
          </p:cNvPr>
          <p:cNvSpPr txBox="1">
            <a:spLocks/>
          </p:cNvSpPr>
          <p:nvPr/>
        </p:nvSpPr>
        <p:spPr bwMode="auto">
          <a:xfrm>
            <a:off x="380234" y="3075910"/>
            <a:ext cx="3744416" cy="57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pt-BR" dirty="0"/>
              <a:t>Identificação do HC;</a:t>
            </a:r>
            <a:endParaRPr lang="pt-BR" sz="1400" dirty="0"/>
          </a:p>
          <a:p>
            <a:pPr marL="0" indent="0">
              <a:buFont typeface="Wingdings" panose="05000000000000000000" pitchFamily="2" charset="2"/>
              <a:buNone/>
            </a:pPr>
            <a:endParaRPr lang="pt-BR" i="1" dirty="0"/>
          </a:p>
          <a:p>
            <a:pPr marL="0" indent="0">
              <a:buFont typeface="Wingdings" panose="05000000000000000000" pitchFamily="2" charset="2"/>
              <a:buNone/>
            </a:pPr>
            <a:endParaRPr lang="pt-BR" i="1" dirty="0"/>
          </a:p>
          <a:p>
            <a:pPr marL="0" indent="0">
              <a:buFont typeface="Wingdings" panose="05000000000000000000" pitchFamily="2" charset="2"/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26" name="Espaço Reservado para Conteúdo 2">
            <a:extLst>
              <a:ext uri="{FF2B5EF4-FFF2-40B4-BE49-F238E27FC236}">
                <a16:creationId xmlns:a16="http://schemas.microsoft.com/office/drawing/2014/main" id="{C38EEB14-8780-C1BF-F34C-A7E654D0D03B}"/>
              </a:ext>
            </a:extLst>
          </p:cNvPr>
          <p:cNvSpPr txBox="1">
            <a:spLocks/>
          </p:cNvSpPr>
          <p:nvPr/>
        </p:nvSpPr>
        <p:spPr bwMode="auto">
          <a:xfrm>
            <a:off x="380234" y="4020376"/>
            <a:ext cx="3744416" cy="57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pt-BR" dirty="0"/>
              <a:t>Armazenamento dos Dados;</a:t>
            </a:r>
            <a:endParaRPr lang="pt-BR" sz="1400" dirty="0"/>
          </a:p>
          <a:p>
            <a:pPr marL="0" indent="0">
              <a:buFont typeface="Wingdings" panose="05000000000000000000" pitchFamily="2" charset="2"/>
              <a:buNone/>
            </a:pPr>
            <a:endParaRPr lang="pt-BR" i="1" dirty="0"/>
          </a:p>
          <a:p>
            <a:pPr marL="0" indent="0">
              <a:buFont typeface="Wingdings" panose="05000000000000000000" pitchFamily="2" charset="2"/>
              <a:buNone/>
            </a:pPr>
            <a:endParaRPr lang="pt-BR" i="1" dirty="0"/>
          </a:p>
          <a:p>
            <a:pPr marL="0" indent="0">
              <a:buFont typeface="Wingdings" panose="05000000000000000000" pitchFamily="2" charset="2"/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27" name="Espaço Reservado para Conteúdo 2">
            <a:extLst>
              <a:ext uri="{FF2B5EF4-FFF2-40B4-BE49-F238E27FC236}">
                <a16:creationId xmlns:a16="http://schemas.microsoft.com/office/drawing/2014/main" id="{CF9A97D4-D60F-CB37-64EB-CDA1D7CA714C}"/>
              </a:ext>
            </a:extLst>
          </p:cNvPr>
          <p:cNvSpPr txBox="1">
            <a:spLocks/>
          </p:cNvSpPr>
          <p:nvPr/>
        </p:nvSpPr>
        <p:spPr bwMode="auto">
          <a:xfrm>
            <a:off x="380234" y="4964842"/>
            <a:ext cx="3744416" cy="565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08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5913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163" indent="-339725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pt-BR" dirty="0"/>
              <a:t>Processamento dos Dados.</a:t>
            </a:r>
          </a:p>
          <a:p>
            <a:pPr marL="0" indent="0">
              <a:spcAft>
                <a:spcPts val="1800"/>
              </a:spcAft>
              <a:buFont typeface="Wingdings" panose="05000000000000000000" pitchFamily="2" charset="2"/>
              <a:buNone/>
            </a:pPr>
            <a:endParaRPr lang="pt-BR" sz="1400" dirty="0"/>
          </a:p>
          <a:p>
            <a:pPr marL="0" indent="0">
              <a:buFont typeface="Wingdings" panose="05000000000000000000" pitchFamily="2" charset="2"/>
              <a:buNone/>
            </a:pPr>
            <a:endParaRPr lang="pt-BR" i="1" dirty="0"/>
          </a:p>
          <a:p>
            <a:pPr marL="0" indent="0">
              <a:buFont typeface="Wingdings" panose="05000000000000000000" pitchFamily="2" charset="2"/>
              <a:buNone/>
            </a:pPr>
            <a:endParaRPr lang="pt-BR" i="1" dirty="0"/>
          </a:p>
          <a:p>
            <a:pPr marL="0" indent="0">
              <a:buFont typeface="Wingdings" panose="05000000000000000000" pitchFamily="2" charset="2"/>
              <a:buNone/>
            </a:pP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511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21" grpId="0" uiExpand="1" build="p"/>
      <p:bldP spid="21" grpId="1" uiExpand="1" build="p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6. </a:t>
            </a:r>
            <a:r>
              <a:rPr lang="en-US" dirty="0"/>
              <a:t>Caso de </a:t>
            </a:r>
            <a:r>
              <a:rPr lang="en-US" dirty="0" err="1"/>
              <a:t>estudo</a:t>
            </a:r>
            <a:r>
              <a:rPr lang="en-US" dirty="0"/>
              <a:t>, rede de </a:t>
            </a:r>
            <a:r>
              <a:rPr lang="en-US" dirty="0" err="1"/>
              <a:t>baixa</a:t>
            </a:r>
            <a:r>
              <a:rPr lang="en-US" dirty="0"/>
              <a:t> </a:t>
            </a:r>
            <a:r>
              <a:rPr lang="en-US" dirty="0" err="1"/>
              <a:t>tensão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14</a:t>
            </a:fld>
            <a:endParaRPr lang="pt-BR" altLang="en-US" dirty="0"/>
          </a:p>
        </p:txBody>
      </p:sp>
      <p:pic>
        <p:nvPicPr>
          <p:cNvPr id="5" name="Imagem 4" descr="Aplicativo">
            <a:extLst>
              <a:ext uri="{FF2B5EF4-FFF2-40B4-BE49-F238E27FC236}">
                <a16:creationId xmlns:a16="http://schemas.microsoft.com/office/drawing/2014/main" id="{31425B4D-4C88-E5EA-81B3-B850166FF4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44824"/>
            <a:ext cx="4322216" cy="3056985"/>
          </a:xfrm>
          <a:prstGeom prst="rect">
            <a:avLst/>
          </a:prstGeom>
        </p:spPr>
      </p:pic>
      <p:pic>
        <p:nvPicPr>
          <p:cNvPr id="7" name="Imagem 6" descr="Diagrama, Desenho técnico&#10;&#10;Descrição gerada automaticamente">
            <a:extLst>
              <a:ext uri="{FF2B5EF4-FFF2-40B4-BE49-F238E27FC236}">
                <a16:creationId xmlns:a16="http://schemas.microsoft.com/office/drawing/2014/main" id="{3256B949-6B09-4E41-CFC1-CAAED41A5E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210" y="1340768"/>
            <a:ext cx="4039590" cy="4357734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BDAF5FA6-923C-EB11-B4B4-86EC7B788B10}"/>
              </a:ext>
            </a:extLst>
          </p:cNvPr>
          <p:cNvSpPr/>
          <p:nvPr/>
        </p:nvSpPr>
        <p:spPr>
          <a:xfrm>
            <a:off x="4647210" y="3068960"/>
            <a:ext cx="1292942" cy="72008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503BDAB-5539-783D-2067-BF500AF66462}"/>
              </a:ext>
            </a:extLst>
          </p:cNvPr>
          <p:cNvSpPr/>
          <p:nvPr/>
        </p:nvSpPr>
        <p:spPr>
          <a:xfrm>
            <a:off x="1691680" y="2420888"/>
            <a:ext cx="429579" cy="288032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3634A695-6AB3-0469-6EE6-9E1231B3C474}"/>
              </a:ext>
            </a:extLst>
          </p:cNvPr>
          <p:cNvCxnSpPr/>
          <p:nvPr/>
        </p:nvCxnSpPr>
        <p:spPr>
          <a:xfrm>
            <a:off x="2195736" y="2564904"/>
            <a:ext cx="2451474" cy="72008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1176B945-9A5F-674F-2FA5-8EA3D2BAE382}"/>
              </a:ext>
            </a:extLst>
          </p:cNvPr>
          <p:cNvSpPr txBox="1"/>
          <p:nvPr/>
        </p:nvSpPr>
        <p:spPr>
          <a:xfrm>
            <a:off x="3671900" y="5417072"/>
            <a:ext cx="1800200" cy="369332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11.9kV – 220V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1714C9F-E9C2-D6A9-70AA-CA12CA3668BF}"/>
              </a:ext>
            </a:extLst>
          </p:cNvPr>
          <p:cNvSpPr txBox="1"/>
          <p:nvPr/>
        </p:nvSpPr>
        <p:spPr>
          <a:xfrm>
            <a:off x="936464" y="1451166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Américo Brasiliense - SP</a:t>
            </a:r>
          </a:p>
        </p:txBody>
      </p:sp>
    </p:spTree>
    <p:extLst>
      <p:ext uri="{BB962C8B-B14F-4D97-AF65-F5344CB8AC3E}">
        <p14:creationId xmlns:p14="http://schemas.microsoft.com/office/powerpoint/2010/main" val="102985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" grpId="0" animBg="1"/>
      <p:bldP spid="6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Caso de </a:t>
            </a:r>
            <a:r>
              <a:rPr lang="en-US" dirty="0" err="1"/>
              <a:t>estudo</a:t>
            </a:r>
            <a:r>
              <a:rPr lang="en-US" dirty="0"/>
              <a:t>, rede de </a:t>
            </a:r>
            <a:r>
              <a:rPr lang="en-US" dirty="0" err="1"/>
              <a:t>baixa</a:t>
            </a:r>
            <a:r>
              <a:rPr lang="en-US" dirty="0"/>
              <a:t> </a:t>
            </a:r>
            <a:r>
              <a:rPr lang="en-US" dirty="0" err="1"/>
              <a:t>tensão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15</a:t>
            </a:fld>
            <a:endParaRPr lang="pt-BR" altLang="en-US" dirty="0"/>
          </a:p>
        </p:txBody>
      </p:sp>
      <p:graphicFrame>
        <p:nvGraphicFramePr>
          <p:cNvPr id="3" name="Tabela 5">
            <a:extLst>
              <a:ext uri="{FF2B5EF4-FFF2-40B4-BE49-F238E27FC236}">
                <a16:creationId xmlns:a16="http://schemas.microsoft.com/office/drawing/2014/main" id="{06A3B80F-95EC-F722-5290-B34CDA12F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924025"/>
              </p:ext>
            </p:extLst>
          </p:nvPr>
        </p:nvGraphicFramePr>
        <p:xfrm>
          <a:off x="457200" y="90872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7159448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429150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391727506"/>
                    </a:ext>
                  </a:extLst>
                </a:gridCol>
              </a:tblGrid>
              <a:tr h="37141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Métricas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Resultados de</a:t>
                      </a:r>
                      <a:br>
                        <a:rPr lang="da-DK" b="1" dirty="0"/>
                      </a:br>
                      <a:r>
                        <a:rPr lang="da-DK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(Torquato et al. [2018])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Caso de estudo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610056"/>
                  </a:ext>
                </a:extLst>
              </a:tr>
              <a:tr h="212234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Comprimento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767,92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484,75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542196"/>
                  </a:ext>
                </a:extLst>
              </a:tr>
              <a:tr h="212234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X/R 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660484"/>
                  </a:ext>
                </a:extLst>
              </a:tr>
              <a:tr h="37141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Capacidade de corrente dos condutores (A)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82,26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73,51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271497"/>
                  </a:ext>
                </a:extLst>
              </a:tr>
              <a:tr h="212234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Consumidores 1F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20,41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865894"/>
                  </a:ext>
                </a:extLst>
              </a:tr>
              <a:tr h="2122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Consumidores 2F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13,55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624685"/>
                  </a:ext>
                </a:extLst>
              </a:tr>
              <a:tr h="2122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Consumidores 3F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2,77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472123"/>
                  </a:ext>
                </a:extLst>
              </a:tr>
              <a:tr h="212234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Pot. Transformador(kVA)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30-75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376121"/>
                  </a:ext>
                </a:extLst>
              </a:tr>
            </a:tbl>
          </a:graphicData>
        </a:graphic>
      </p:graphicFrame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id="{2A17ECD4-3C38-A8F1-C294-E90FCAAD7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538646"/>
              </p:ext>
            </p:extLst>
          </p:nvPr>
        </p:nvGraphicFramePr>
        <p:xfrm>
          <a:off x="457199" y="4653136"/>
          <a:ext cx="8229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0862">
                  <a:extLst>
                    <a:ext uri="{9D8B030D-6E8A-4147-A177-3AD203B41FA5}">
                      <a16:colId xmlns:a16="http://schemas.microsoft.com/office/drawing/2014/main" val="200272126"/>
                    </a:ext>
                  </a:extLst>
                </a:gridCol>
                <a:gridCol w="1825864">
                  <a:extLst>
                    <a:ext uri="{9D8B030D-6E8A-4147-A177-3AD203B41FA5}">
                      <a16:colId xmlns:a16="http://schemas.microsoft.com/office/drawing/2014/main" val="2349156232"/>
                    </a:ext>
                  </a:extLst>
                </a:gridCol>
                <a:gridCol w="2332875">
                  <a:extLst>
                    <a:ext uri="{9D8B030D-6E8A-4147-A177-3AD203B41FA5}">
                      <a16:colId xmlns:a16="http://schemas.microsoft.com/office/drawing/2014/main" val="131839369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Estudo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HC 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Desvio Padrão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39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0" dirty="0"/>
                        <a:t>Resultados de (Torquato et al. [2018])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37,40%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17,40%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4786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Resultados caso de estudo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37,11%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11,81%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9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14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6. </a:t>
            </a:r>
            <a:r>
              <a:rPr lang="en-US" dirty="0" err="1"/>
              <a:t>Resultados</a:t>
            </a:r>
            <a:r>
              <a:rPr lang="en-US" dirty="0"/>
              <a:t> –Dados de HC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16</a:t>
            </a:fld>
            <a:endParaRPr lang="pt-BR" altLang="en-US" dirty="0"/>
          </a:p>
        </p:txBody>
      </p:sp>
      <p:graphicFrame>
        <p:nvGraphicFramePr>
          <p:cNvPr id="17" name="Tabela 4">
            <a:extLst>
              <a:ext uri="{FF2B5EF4-FFF2-40B4-BE49-F238E27FC236}">
                <a16:creationId xmlns:a16="http://schemas.microsoft.com/office/drawing/2014/main" id="{C135DED3-A363-9742-4253-B786FF2FC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022006"/>
              </p:ext>
            </p:extLst>
          </p:nvPr>
        </p:nvGraphicFramePr>
        <p:xfrm>
          <a:off x="1596007" y="3666877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51171086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7018715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1266262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02242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Casos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15% -&gt; 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15% -&gt; 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30% -&gt; 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860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Caso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-0,44%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+0,50%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+0,94%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28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+4,44%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+2,99%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-1,51%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34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+7,75%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+16,69%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+9,68%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03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VV&amp;VW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+4,91%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+3,15%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-1,84%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677056"/>
                  </a:ext>
                </a:extLst>
              </a:tr>
            </a:tbl>
          </a:graphicData>
        </a:graphic>
      </p:graphicFrame>
      <p:pic>
        <p:nvPicPr>
          <p:cNvPr id="19" name="Imagem 18">
            <a:hlinkClick r:id="rId3" action="ppaction://hlinksldjump"/>
            <a:extLst>
              <a:ext uri="{FF2B5EF4-FFF2-40B4-BE49-F238E27FC236}">
                <a16:creationId xmlns:a16="http://schemas.microsoft.com/office/drawing/2014/main" id="{CE5227AE-BC65-325F-99A0-20E6AB1B3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1268760"/>
            <a:ext cx="2283435" cy="1675556"/>
          </a:xfrm>
          <a:prstGeom prst="rect">
            <a:avLst/>
          </a:prstGeom>
        </p:spPr>
      </p:pic>
      <p:pic>
        <p:nvPicPr>
          <p:cNvPr id="21" name="Imagem 20">
            <a:hlinkClick r:id="rId5" action="ppaction://hlinksldjump"/>
            <a:extLst>
              <a:ext uri="{FF2B5EF4-FFF2-40B4-BE49-F238E27FC236}">
                <a16:creationId xmlns:a16="http://schemas.microsoft.com/office/drawing/2014/main" id="{7A6C7988-C0C2-444D-DE97-1D76EC8119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290" y="1268760"/>
            <a:ext cx="2283435" cy="1675556"/>
          </a:xfrm>
          <a:prstGeom prst="rect">
            <a:avLst/>
          </a:prstGeom>
        </p:spPr>
      </p:pic>
      <p:pic>
        <p:nvPicPr>
          <p:cNvPr id="23" name="Imagem 22">
            <a:hlinkClick r:id="rId7" action="ppaction://hlinksldjump"/>
            <a:extLst>
              <a:ext uri="{FF2B5EF4-FFF2-40B4-BE49-F238E27FC236}">
                <a16:creationId xmlns:a16="http://schemas.microsoft.com/office/drawing/2014/main" id="{BCD8C8A2-B78D-2E78-F769-577C13D20C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1012" y="1268760"/>
            <a:ext cx="2283435" cy="167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6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Dados de HC – 15%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17</a:t>
            </a:fld>
            <a:endParaRPr lang="pt-BR" alt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539141A-F558-3074-6278-6FC312CCF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780" y="2060848"/>
            <a:ext cx="5041220" cy="4025396"/>
          </a:xfrm>
          <a:prstGeom prst="rect">
            <a:avLst/>
          </a:prstGeom>
        </p:spPr>
      </p:pic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E2720028-7038-1CF5-0069-0C3D2D45D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033577"/>
              </p:ext>
            </p:extLst>
          </p:nvPr>
        </p:nvGraphicFramePr>
        <p:xfrm>
          <a:off x="107504" y="987417"/>
          <a:ext cx="4248472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052">
                  <a:extLst>
                    <a:ext uri="{9D8B030D-6E8A-4147-A177-3AD203B41FA5}">
                      <a16:colId xmlns:a16="http://schemas.microsoft.com/office/drawing/2014/main" val="105834014"/>
                    </a:ext>
                  </a:extLst>
                </a:gridCol>
                <a:gridCol w="799380">
                  <a:extLst>
                    <a:ext uri="{9D8B030D-6E8A-4147-A177-3AD203B41FA5}">
                      <a16:colId xmlns:a16="http://schemas.microsoft.com/office/drawing/2014/main" val="3888372994"/>
                    </a:ext>
                  </a:extLst>
                </a:gridCol>
                <a:gridCol w="799380">
                  <a:extLst>
                    <a:ext uri="{9D8B030D-6E8A-4147-A177-3AD203B41FA5}">
                      <a16:colId xmlns:a16="http://schemas.microsoft.com/office/drawing/2014/main" val="2940310163"/>
                    </a:ext>
                  </a:extLst>
                </a:gridCol>
                <a:gridCol w="841556">
                  <a:extLst>
                    <a:ext uri="{9D8B030D-6E8A-4147-A177-3AD203B41FA5}">
                      <a16:colId xmlns:a16="http://schemas.microsoft.com/office/drawing/2014/main" val="429314282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511913270"/>
                    </a:ext>
                  </a:extLst>
                </a:gridCol>
              </a:tblGrid>
              <a:tr h="3998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Casos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HC M</a:t>
                      </a:r>
                      <a:r>
                        <a:rPr lang="pt-BR" sz="1400" dirty="0" err="1"/>
                        <a:t>édio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Desvio Padrão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HC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Melhoria no HC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598438"/>
                  </a:ext>
                </a:extLst>
              </a:tr>
              <a:tr h="399893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Caso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37,11%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11,81%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25,30%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307946"/>
                  </a:ext>
                </a:extLst>
              </a:tr>
              <a:tr h="23523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49,46%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14,78%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34,68%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37,07%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248388"/>
                  </a:ext>
                </a:extLst>
              </a:tr>
              <a:tr h="23523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39,16%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13,51%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25,65%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1,38%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306422"/>
                  </a:ext>
                </a:extLst>
              </a:tr>
              <a:tr h="23523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VV&amp;VW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50,88%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15,26%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35,62%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40,79%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600167"/>
                  </a:ext>
                </a:extLst>
              </a:tr>
            </a:tbl>
          </a:graphicData>
        </a:graphic>
      </p:graphicFrame>
      <p:sp>
        <p:nvSpPr>
          <p:cNvPr id="9" name="Retângulo: Cantos Arredondados 8">
            <a:hlinkClick r:id="rId5" action="ppaction://hlinksldjump"/>
            <a:extLst>
              <a:ext uri="{FF2B5EF4-FFF2-40B4-BE49-F238E27FC236}">
                <a16:creationId xmlns:a16="http://schemas.microsoft.com/office/drawing/2014/main" id="{D9E14D57-4F77-9586-E1D0-1EDB4F48DA8E}"/>
              </a:ext>
            </a:extLst>
          </p:cNvPr>
          <p:cNvSpPr/>
          <p:nvPr/>
        </p:nvSpPr>
        <p:spPr>
          <a:xfrm>
            <a:off x="6372200" y="339345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AD71203E-2563-23CF-4E8C-844A63D03BE7}"/>
              </a:ext>
            </a:extLst>
          </p:cNvPr>
          <p:cNvCxnSpPr>
            <a:cxnSpLocks/>
          </p:cNvCxnSpPr>
          <p:nvPr/>
        </p:nvCxnSpPr>
        <p:spPr>
          <a:xfrm>
            <a:off x="1691680" y="1772816"/>
            <a:ext cx="14401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78002C0-2575-5E8E-87BF-D508167AF00F}"/>
              </a:ext>
            </a:extLst>
          </p:cNvPr>
          <p:cNvCxnSpPr>
            <a:cxnSpLocks/>
          </p:cNvCxnSpPr>
          <p:nvPr/>
        </p:nvCxnSpPr>
        <p:spPr>
          <a:xfrm>
            <a:off x="2483768" y="1742232"/>
            <a:ext cx="14401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3513C7C-6839-D3BB-318E-13D52E25F0A0}"/>
              </a:ext>
            </a:extLst>
          </p:cNvPr>
          <p:cNvCxnSpPr>
            <a:cxnSpLocks/>
          </p:cNvCxnSpPr>
          <p:nvPr/>
        </p:nvCxnSpPr>
        <p:spPr>
          <a:xfrm>
            <a:off x="2483768" y="1814240"/>
            <a:ext cx="14401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77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4FCD788-6306-FC0F-A748-09795C7D4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613" y="2348880"/>
            <a:ext cx="5046387" cy="370294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Dados de HC – 30%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18</a:t>
            </a:fld>
            <a:endParaRPr lang="pt-BR" altLang="en-US" dirty="0"/>
          </a:p>
        </p:txBody>
      </p:sp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E2720028-7038-1CF5-0069-0C3D2D45D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48920"/>
              </p:ext>
            </p:extLst>
          </p:nvPr>
        </p:nvGraphicFramePr>
        <p:xfrm>
          <a:off x="107504" y="1018131"/>
          <a:ext cx="4176464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59">
                  <a:extLst>
                    <a:ext uri="{9D8B030D-6E8A-4147-A177-3AD203B41FA5}">
                      <a16:colId xmlns:a16="http://schemas.microsoft.com/office/drawing/2014/main" val="10583401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88837299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94031016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293142821"/>
                    </a:ext>
                  </a:extLst>
                </a:gridCol>
                <a:gridCol w="944241">
                  <a:extLst>
                    <a:ext uri="{9D8B030D-6E8A-4147-A177-3AD203B41FA5}">
                      <a16:colId xmlns:a16="http://schemas.microsoft.com/office/drawing/2014/main" val="3511913270"/>
                    </a:ext>
                  </a:extLst>
                </a:gridCol>
              </a:tblGrid>
              <a:tr h="33825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Casos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HC M</a:t>
                      </a:r>
                      <a:r>
                        <a:rPr lang="pt-BR" sz="1400" dirty="0" err="1"/>
                        <a:t>édio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Desvio Padrão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HC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Melhoria no HC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598438"/>
                  </a:ext>
                </a:extLst>
              </a:tr>
              <a:tr h="338253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Caso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36,94%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9,79%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27,19%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307946"/>
                  </a:ext>
                </a:extLst>
              </a:tr>
              <a:tr h="242083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51,76%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14,60%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37,16%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36,67%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248388"/>
                  </a:ext>
                </a:extLst>
              </a:tr>
              <a:tr h="242083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42,45%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13,07%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29,38%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8,05%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306422"/>
                  </a:ext>
                </a:extLst>
              </a:tr>
              <a:tr h="242083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VV&amp;VW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53,50%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14,77%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38,73%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42,44%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600167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hlinkClick r:id="rId4" action="ppaction://hlinksldjump"/>
            <a:extLst>
              <a:ext uri="{FF2B5EF4-FFF2-40B4-BE49-F238E27FC236}">
                <a16:creationId xmlns:a16="http://schemas.microsoft.com/office/drawing/2014/main" id="{6E31F386-322F-6970-66F3-A55E8761F86A}"/>
              </a:ext>
            </a:extLst>
          </p:cNvPr>
          <p:cNvSpPr/>
          <p:nvPr/>
        </p:nvSpPr>
        <p:spPr>
          <a:xfrm>
            <a:off x="6372200" y="339345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934492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0D39A58-1093-CA0F-ACE3-85F6EBA94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754" y="1988840"/>
            <a:ext cx="5096245" cy="398023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Dados de HC – 50%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19</a:t>
            </a:fld>
            <a:endParaRPr lang="pt-BR" altLang="en-US" dirty="0"/>
          </a:p>
        </p:txBody>
      </p:sp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E2720028-7038-1CF5-0069-0C3D2D45D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735505"/>
              </p:ext>
            </p:extLst>
          </p:nvPr>
        </p:nvGraphicFramePr>
        <p:xfrm>
          <a:off x="107504" y="987417"/>
          <a:ext cx="4168327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59">
                  <a:extLst>
                    <a:ext uri="{9D8B030D-6E8A-4147-A177-3AD203B41FA5}">
                      <a16:colId xmlns:a16="http://schemas.microsoft.com/office/drawing/2014/main" val="10583401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88837299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94031016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29314282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511913270"/>
                    </a:ext>
                  </a:extLst>
                </a:gridCol>
              </a:tblGrid>
              <a:tr h="3456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Casos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HC M</a:t>
                      </a:r>
                      <a:r>
                        <a:rPr lang="pt-BR" sz="1400" dirty="0" err="1"/>
                        <a:t>édio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Desvio Padrão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HC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Melhoria no HC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598438"/>
                  </a:ext>
                </a:extLst>
              </a:tr>
              <a:tr h="34566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Caso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37,30%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11,30%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26,00%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307946"/>
                  </a:ext>
                </a:extLst>
              </a:tr>
              <a:tr h="24738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50,99%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16,13%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34,86%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34,07%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248388"/>
                  </a:ext>
                </a:extLst>
              </a:tr>
              <a:tr h="24738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47,01%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14,97%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32,04%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23,23%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306422"/>
                  </a:ext>
                </a:extLst>
              </a:tr>
              <a:tr h="24738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VV&amp;VW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52,53%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16,50%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36,03%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38,57%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600167"/>
                  </a:ext>
                </a:extLst>
              </a:tr>
            </a:tbl>
          </a:graphicData>
        </a:graphic>
      </p:graphicFrame>
      <p:sp>
        <p:nvSpPr>
          <p:cNvPr id="10" name="Retângulo: Cantos Arredondados 9">
            <a:hlinkClick r:id="rId4" action="ppaction://hlinksldjump"/>
            <a:extLst>
              <a:ext uri="{FF2B5EF4-FFF2-40B4-BE49-F238E27FC236}">
                <a16:creationId xmlns:a16="http://schemas.microsoft.com/office/drawing/2014/main" id="{4B387F73-7D02-04E3-3435-1DBF4925DC94}"/>
              </a:ext>
            </a:extLst>
          </p:cNvPr>
          <p:cNvSpPr/>
          <p:nvPr/>
        </p:nvSpPr>
        <p:spPr>
          <a:xfrm>
            <a:off x="6372200" y="339345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1368972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20</a:t>
            </a:fld>
            <a:endParaRPr lang="pt-BR" altLang="en-US" dirty="0"/>
          </a:p>
        </p:txBody>
      </p:sp>
      <p:pic>
        <p:nvPicPr>
          <p:cNvPr id="5" name="Imagem 4">
            <a:hlinkClick r:id="rId4" action="ppaction://hlinksldjump"/>
            <a:extLst>
              <a:ext uri="{FF2B5EF4-FFF2-40B4-BE49-F238E27FC236}">
                <a16:creationId xmlns:a16="http://schemas.microsoft.com/office/drawing/2014/main" id="{1449D6DD-15C5-FD32-A9A2-365C7BD967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797" y="1248717"/>
            <a:ext cx="2950005" cy="2180283"/>
          </a:xfrm>
          <a:prstGeom prst="rect">
            <a:avLst/>
          </a:prstGeom>
        </p:spPr>
      </p:pic>
      <p:pic>
        <p:nvPicPr>
          <p:cNvPr id="7" name="Imagem 6">
            <a:hlinkClick r:id="rId6" action="ppaction://hlinksldjump"/>
            <a:extLst>
              <a:ext uri="{FF2B5EF4-FFF2-40B4-BE49-F238E27FC236}">
                <a16:creationId xmlns:a16="http://schemas.microsoft.com/office/drawing/2014/main" id="{17D02F2F-11BB-9745-0701-0B41442B69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346" y="1248717"/>
            <a:ext cx="2950004" cy="2180283"/>
          </a:xfrm>
          <a:prstGeom prst="rect">
            <a:avLst/>
          </a:prstGeom>
        </p:spPr>
      </p:pic>
      <p:pic>
        <p:nvPicPr>
          <p:cNvPr id="9" name="Imagem 8">
            <a:hlinkClick r:id="rId8" action="ppaction://hlinksldjump"/>
            <a:extLst>
              <a:ext uri="{FF2B5EF4-FFF2-40B4-BE49-F238E27FC236}">
                <a16:creationId xmlns:a16="http://schemas.microsoft.com/office/drawing/2014/main" id="{F97BB19F-D0E7-26FB-0EB1-2FD54F6AD8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6998" y="3768997"/>
            <a:ext cx="2950004" cy="218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965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 </a:t>
            </a:r>
            <a:r>
              <a:rPr lang="en-US" dirty="0"/>
              <a:t>– 15%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21</a:t>
            </a:fld>
            <a:endParaRPr lang="pt-BR" alt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4A7038-B5FA-B0BE-AF98-7A3FF094B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37" y="1711327"/>
            <a:ext cx="4379508" cy="328696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872C63C-F88D-A092-0676-55CB9D41E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156" y="1711327"/>
            <a:ext cx="4379018" cy="3286967"/>
          </a:xfrm>
          <a:prstGeom prst="rect">
            <a:avLst/>
          </a:prstGeom>
        </p:spPr>
      </p:pic>
      <p:sp>
        <p:nvSpPr>
          <p:cNvPr id="11" name="Retângulo: Cantos Arredondados 10">
            <a:hlinkClick r:id="rId6" action="ppaction://hlinksldjump"/>
            <a:extLst>
              <a:ext uri="{FF2B5EF4-FFF2-40B4-BE49-F238E27FC236}">
                <a16:creationId xmlns:a16="http://schemas.microsoft.com/office/drawing/2014/main" id="{DA2F199D-2831-FB7F-259C-4417943B2A36}"/>
              </a:ext>
            </a:extLst>
          </p:cNvPr>
          <p:cNvSpPr/>
          <p:nvPr/>
        </p:nvSpPr>
        <p:spPr>
          <a:xfrm>
            <a:off x="6553200" y="277813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0B8E32-39B7-8C16-9717-E257064EE56D}"/>
              </a:ext>
            </a:extLst>
          </p:cNvPr>
          <p:cNvSpPr txBox="1"/>
          <p:nvPr/>
        </p:nvSpPr>
        <p:spPr>
          <a:xfrm>
            <a:off x="1054004" y="13368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Controle VW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B0810E-0853-1BE4-9B22-C08DD09A0CAD}"/>
              </a:ext>
            </a:extLst>
          </p:cNvPr>
          <p:cNvSpPr txBox="1"/>
          <p:nvPr/>
        </p:nvSpPr>
        <p:spPr>
          <a:xfrm>
            <a:off x="5433022" y="13368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Controle VV + VW</a:t>
            </a:r>
          </a:p>
        </p:txBody>
      </p:sp>
    </p:spTree>
    <p:extLst>
      <p:ext uri="{BB962C8B-B14F-4D97-AF65-F5344CB8AC3E}">
        <p14:creationId xmlns:p14="http://schemas.microsoft.com/office/powerpoint/2010/main" val="34578918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 </a:t>
            </a:r>
            <a:r>
              <a:rPr lang="en-US" dirty="0"/>
              <a:t>– 30%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22</a:t>
            </a:fld>
            <a:endParaRPr lang="pt-BR" altLang="en-US" dirty="0"/>
          </a:p>
        </p:txBody>
      </p:sp>
      <p:sp>
        <p:nvSpPr>
          <p:cNvPr id="3" name="Retângulo: Cantos Arredondados 2">
            <a:hlinkClick r:id="rId3" action="ppaction://hlinksldjump"/>
            <a:extLst>
              <a:ext uri="{FF2B5EF4-FFF2-40B4-BE49-F238E27FC236}">
                <a16:creationId xmlns:a16="http://schemas.microsoft.com/office/drawing/2014/main" id="{9647FC98-1CB1-56C4-79CA-603509DEFFB4}"/>
              </a:ext>
            </a:extLst>
          </p:cNvPr>
          <p:cNvSpPr/>
          <p:nvPr/>
        </p:nvSpPr>
        <p:spPr>
          <a:xfrm>
            <a:off x="6553200" y="277813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6F05989-526E-6676-02F0-87324D27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34" y="1726209"/>
            <a:ext cx="4379018" cy="328696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57B4C10-2C6E-0170-372E-845809359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950" y="1785516"/>
            <a:ext cx="4374415" cy="328696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DA3558F-2449-12F3-88DF-01AC4E08E834}"/>
              </a:ext>
            </a:extLst>
          </p:cNvPr>
          <p:cNvSpPr txBox="1"/>
          <p:nvPr/>
        </p:nvSpPr>
        <p:spPr>
          <a:xfrm>
            <a:off x="1054004" y="13368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Controle VW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1F220A-4ABC-A0D6-3299-665EB6CAD464}"/>
              </a:ext>
            </a:extLst>
          </p:cNvPr>
          <p:cNvSpPr txBox="1"/>
          <p:nvPr/>
        </p:nvSpPr>
        <p:spPr>
          <a:xfrm>
            <a:off x="5433022" y="13368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Controle VV + VW</a:t>
            </a:r>
          </a:p>
        </p:txBody>
      </p:sp>
    </p:spTree>
    <p:extLst>
      <p:ext uri="{BB962C8B-B14F-4D97-AF65-F5344CB8AC3E}">
        <p14:creationId xmlns:p14="http://schemas.microsoft.com/office/powerpoint/2010/main" val="3011774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 </a:t>
            </a:r>
            <a:r>
              <a:rPr lang="en-US" dirty="0"/>
              <a:t>– 50%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23</a:t>
            </a:fld>
            <a:endParaRPr lang="pt-BR" altLang="en-US" dirty="0"/>
          </a:p>
        </p:txBody>
      </p:sp>
      <p:sp>
        <p:nvSpPr>
          <p:cNvPr id="9" name="Retângulo: Cantos Arredondados 8">
            <a:hlinkClick r:id="rId3" action="ppaction://hlinksldjump"/>
            <a:extLst>
              <a:ext uri="{FF2B5EF4-FFF2-40B4-BE49-F238E27FC236}">
                <a16:creationId xmlns:a16="http://schemas.microsoft.com/office/drawing/2014/main" id="{D9E14D57-4F77-9586-E1D0-1EDB4F48DA8E}"/>
              </a:ext>
            </a:extLst>
          </p:cNvPr>
          <p:cNvSpPr/>
          <p:nvPr/>
        </p:nvSpPr>
        <p:spPr>
          <a:xfrm>
            <a:off x="6553200" y="277813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9E25D77-0B43-725D-D5A7-734614E7A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71" y="1711327"/>
            <a:ext cx="4379674" cy="328696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4B0E38D-D36F-CB31-BFFC-028CE60DF1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157" y="1711327"/>
            <a:ext cx="4379674" cy="32869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3E025D2-9502-911B-9534-DB0BAFC7EA1C}"/>
              </a:ext>
            </a:extLst>
          </p:cNvPr>
          <p:cNvSpPr txBox="1"/>
          <p:nvPr/>
        </p:nvSpPr>
        <p:spPr>
          <a:xfrm>
            <a:off x="1054004" y="13368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Controle VW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A76413-61EC-5C5C-C8A2-C5023E812127}"/>
              </a:ext>
            </a:extLst>
          </p:cNvPr>
          <p:cNvSpPr txBox="1"/>
          <p:nvPr/>
        </p:nvSpPr>
        <p:spPr>
          <a:xfrm>
            <a:off x="5433022" y="13368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Controle VV + VW</a:t>
            </a:r>
          </a:p>
        </p:txBody>
      </p:sp>
    </p:spTree>
    <p:extLst>
      <p:ext uri="{BB962C8B-B14F-4D97-AF65-F5344CB8AC3E}">
        <p14:creationId xmlns:p14="http://schemas.microsoft.com/office/powerpoint/2010/main" val="111526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ativações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controle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24</a:t>
            </a:fld>
            <a:endParaRPr lang="pt-BR" altLang="en-US" dirty="0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BC683F30-64F9-29C8-897B-9FD6E2CFB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946777"/>
              </p:ext>
            </p:extLst>
          </p:nvPr>
        </p:nvGraphicFramePr>
        <p:xfrm>
          <a:off x="1403648" y="934224"/>
          <a:ext cx="72355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443">
                  <a:extLst>
                    <a:ext uri="{9D8B030D-6E8A-4147-A177-3AD203B41FA5}">
                      <a16:colId xmlns:a16="http://schemas.microsoft.com/office/drawing/2014/main" val="2472752567"/>
                    </a:ext>
                  </a:extLst>
                </a:gridCol>
                <a:gridCol w="642928">
                  <a:extLst>
                    <a:ext uri="{9D8B030D-6E8A-4147-A177-3AD203B41FA5}">
                      <a16:colId xmlns:a16="http://schemas.microsoft.com/office/drawing/2014/main" val="477205807"/>
                    </a:ext>
                  </a:extLst>
                </a:gridCol>
                <a:gridCol w="771514">
                  <a:extLst>
                    <a:ext uri="{9D8B030D-6E8A-4147-A177-3AD203B41FA5}">
                      <a16:colId xmlns:a16="http://schemas.microsoft.com/office/drawing/2014/main" val="592505349"/>
                    </a:ext>
                  </a:extLst>
                </a:gridCol>
                <a:gridCol w="771514">
                  <a:extLst>
                    <a:ext uri="{9D8B030D-6E8A-4147-A177-3AD203B41FA5}">
                      <a16:colId xmlns:a16="http://schemas.microsoft.com/office/drawing/2014/main" val="1288143738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778131278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1943484739"/>
                    </a:ext>
                  </a:extLst>
                </a:gridCol>
                <a:gridCol w="778465">
                  <a:extLst>
                    <a:ext uri="{9D8B030D-6E8A-4147-A177-3AD203B41FA5}">
                      <a16:colId xmlns:a16="http://schemas.microsoft.com/office/drawing/2014/main" val="597810607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4094550899"/>
                    </a:ext>
                  </a:extLst>
                </a:gridCol>
                <a:gridCol w="650646">
                  <a:extLst>
                    <a:ext uri="{9D8B030D-6E8A-4147-A177-3AD203B41FA5}">
                      <a16:colId xmlns:a16="http://schemas.microsoft.com/office/drawing/2014/main" val="871653889"/>
                    </a:ext>
                  </a:extLst>
                </a:gridCol>
              </a:tblGrid>
              <a:tr h="500722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Num. Unidades/ Controle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271079"/>
                  </a:ext>
                </a:extLst>
              </a:tr>
              <a:tr h="2086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31,3%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48,0%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973295"/>
                  </a:ext>
                </a:extLst>
              </a:tr>
              <a:tr h="2086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26,0%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32,6%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227932"/>
                  </a:ext>
                </a:extLst>
              </a:tr>
              <a:tr h="2086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VV&amp;VW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34,0%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28,0%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583473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89B8EC9-2784-C0C4-0A70-EEEBE3954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656878"/>
              </p:ext>
            </p:extLst>
          </p:nvPr>
        </p:nvGraphicFramePr>
        <p:xfrm>
          <a:off x="1403649" y="2662416"/>
          <a:ext cx="723550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476">
                  <a:extLst>
                    <a:ext uri="{9D8B030D-6E8A-4147-A177-3AD203B41FA5}">
                      <a16:colId xmlns:a16="http://schemas.microsoft.com/office/drawing/2014/main" val="2472752567"/>
                    </a:ext>
                  </a:extLst>
                </a:gridCol>
                <a:gridCol w="653853">
                  <a:extLst>
                    <a:ext uri="{9D8B030D-6E8A-4147-A177-3AD203B41FA5}">
                      <a16:colId xmlns:a16="http://schemas.microsoft.com/office/drawing/2014/main" val="477205807"/>
                    </a:ext>
                  </a:extLst>
                </a:gridCol>
                <a:gridCol w="784622">
                  <a:extLst>
                    <a:ext uri="{9D8B030D-6E8A-4147-A177-3AD203B41FA5}">
                      <a16:colId xmlns:a16="http://schemas.microsoft.com/office/drawing/2014/main" val="592505349"/>
                    </a:ext>
                  </a:extLst>
                </a:gridCol>
                <a:gridCol w="741371">
                  <a:extLst>
                    <a:ext uri="{9D8B030D-6E8A-4147-A177-3AD203B41FA5}">
                      <a16:colId xmlns:a16="http://schemas.microsoft.com/office/drawing/2014/main" val="1288143738"/>
                    </a:ext>
                  </a:extLst>
                </a:gridCol>
                <a:gridCol w="741371">
                  <a:extLst>
                    <a:ext uri="{9D8B030D-6E8A-4147-A177-3AD203B41FA5}">
                      <a16:colId xmlns:a16="http://schemas.microsoft.com/office/drawing/2014/main" val="778131278"/>
                    </a:ext>
                  </a:extLst>
                </a:gridCol>
                <a:gridCol w="741371">
                  <a:extLst>
                    <a:ext uri="{9D8B030D-6E8A-4147-A177-3AD203B41FA5}">
                      <a16:colId xmlns:a16="http://schemas.microsoft.com/office/drawing/2014/main" val="1943484739"/>
                    </a:ext>
                  </a:extLst>
                </a:gridCol>
                <a:gridCol w="732288">
                  <a:extLst>
                    <a:ext uri="{9D8B030D-6E8A-4147-A177-3AD203B41FA5}">
                      <a16:colId xmlns:a16="http://schemas.microsoft.com/office/drawing/2014/main" val="597810607"/>
                    </a:ext>
                  </a:extLst>
                </a:gridCol>
                <a:gridCol w="727058">
                  <a:extLst>
                    <a:ext uri="{9D8B030D-6E8A-4147-A177-3AD203B41FA5}">
                      <a16:colId xmlns:a16="http://schemas.microsoft.com/office/drawing/2014/main" val="4094550899"/>
                    </a:ext>
                  </a:extLst>
                </a:gridCol>
                <a:gridCol w="675091">
                  <a:extLst>
                    <a:ext uri="{9D8B030D-6E8A-4147-A177-3AD203B41FA5}">
                      <a16:colId xmlns:a16="http://schemas.microsoft.com/office/drawing/2014/main" val="871653889"/>
                    </a:ext>
                  </a:extLst>
                </a:gridCol>
              </a:tblGrid>
              <a:tr h="304099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Num. Unidades/ Controle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271079"/>
                  </a:ext>
                </a:extLst>
              </a:tr>
              <a:tr h="154162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28,6%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54,0%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973295"/>
                  </a:ext>
                </a:extLst>
              </a:tr>
              <a:tr h="154162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33,3%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32,0%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227932"/>
                  </a:ext>
                </a:extLst>
              </a:tr>
              <a:tr h="154162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VV&amp;VW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16,0%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38,0%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34,6%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583473"/>
                  </a:ext>
                </a:extLst>
              </a:tr>
            </a:tbl>
          </a:graphicData>
        </a:graphic>
      </p:graphicFrame>
      <p:graphicFrame>
        <p:nvGraphicFramePr>
          <p:cNvPr id="7" name="Tabela 5">
            <a:extLst>
              <a:ext uri="{FF2B5EF4-FFF2-40B4-BE49-F238E27FC236}">
                <a16:creationId xmlns:a16="http://schemas.microsoft.com/office/drawing/2014/main" id="{C03FA3B3-B582-DDA2-9812-335B1F60A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114165"/>
              </p:ext>
            </p:extLst>
          </p:nvPr>
        </p:nvGraphicFramePr>
        <p:xfrm>
          <a:off x="1403647" y="4390608"/>
          <a:ext cx="72355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6125">
                  <a:extLst>
                    <a:ext uri="{9D8B030D-6E8A-4147-A177-3AD203B41FA5}">
                      <a16:colId xmlns:a16="http://schemas.microsoft.com/office/drawing/2014/main" val="2472752567"/>
                    </a:ext>
                  </a:extLst>
                </a:gridCol>
                <a:gridCol w="661874">
                  <a:extLst>
                    <a:ext uri="{9D8B030D-6E8A-4147-A177-3AD203B41FA5}">
                      <a16:colId xmlns:a16="http://schemas.microsoft.com/office/drawing/2014/main" val="477205807"/>
                    </a:ext>
                  </a:extLst>
                </a:gridCol>
                <a:gridCol w="756867">
                  <a:extLst>
                    <a:ext uri="{9D8B030D-6E8A-4147-A177-3AD203B41FA5}">
                      <a16:colId xmlns:a16="http://schemas.microsoft.com/office/drawing/2014/main" val="592505349"/>
                    </a:ext>
                  </a:extLst>
                </a:gridCol>
                <a:gridCol w="745771">
                  <a:extLst>
                    <a:ext uri="{9D8B030D-6E8A-4147-A177-3AD203B41FA5}">
                      <a16:colId xmlns:a16="http://schemas.microsoft.com/office/drawing/2014/main" val="1288143738"/>
                    </a:ext>
                  </a:extLst>
                </a:gridCol>
                <a:gridCol w="794250">
                  <a:extLst>
                    <a:ext uri="{9D8B030D-6E8A-4147-A177-3AD203B41FA5}">
                      <a16:colId xmlns:a16="http://schemas.microsoft.com/office/drawing/2014/main" val="778131278"/>
                    </a:ext>
                  </a:extLst>
                </a:gridCol>
                <a:gridCol w="739577">
                  <a:extLst>
                    <a:ext uri="{9D8B030D-6E8A-4147-A177-3AD203B41FA5}">
                      <a16:colId xmlns:a16="http://schemas.microsoft.com/office/drawing/2014/main" val="1943484739"/>
                    </a:ext>
                  </a:extLst>
                </a:gridCol>
                <a:gridCol w="745771">
                  <a:extLst>
                    <a:ext uri="{9D8B030D-6E8A-4147-A177-3AD203B41FA5}">
                      <a16:colId xmlns:a16="http://schemas.microsoft.com/office/drawing/2014/main" val="597810607"/>
                    </a:ext>
                  </a:extLst>
                </a:gridCol>
                <a:gridCol w="690336">
                  <a:extLst>
                    <a:ext uri="{9D8B030D-6E8A-4147-A177-3AD203B41FA5}">
                      <a16:colId xmlns:a16="http://schemas.microsoft.com/office/drawing/2014/main" val="4094550899"/>
                    </a:ext>
                  </a:extLst>
                </a:gridCol>
                <a:gridCol w="644929">
                  <a:extLst>
                    <a:ext uri="{9D8B030D-6E8A-4147-A177-3AD203B41FA5}">
                      <a16:colId xmlns:a16="http://schemas.microsoft.com/office/drawing/2014/main" val="871653889"/>
                    </a:ext>
                  </a:extLst>
                </a:gridCol>
              </a:tblGrid>
              <a:tr h="25027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Num. Unidades/ Controle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271079"/>
                  </a:ext>
                </a:extLst>
              </a:tr>
              <a:tr h="12687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37,3%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973295"/>
                  </a:ext>
                </a:extLst>
              </a:tr>
              <a:tr h="12687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26,0%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29,3%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31,3%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227932"/>
                  </a:ext>
                </a:extLst>
              </a:tr>
              <a:tr h="12687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VV&amp;VW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18,0%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32,0%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32,6%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583473"/>
                  </a:ext>
                </a:extLst>
              </a:tr>
            </a:tbl>
          </a:graphicData>
        </a:graphic>
      </p:graphicFrame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0D13737-074E-58BC-DE7A-8C6A14270A32}"/>
              </a:ext>
            </a:extLst>
          </p:cNvPr>
          <p:cNvSpPr/>
          <p:nvPr/>
        </p:nvSpPr>
        <p:spPr>
          <a:xfrm>
            <a:off x="395536" y="934224"/>
            <a:ext cx="864096" cy="1728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15%</a:t>
            </a:r>
            <a:endParaRPr lang="pt-BR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4A7E80C-F19C-D82D-E125-FAEA6D1B62FF}"/>
              </a:ext>
            </a:extLst>
          </p:cNvPr>
          <p:cNvSpPr/>
          <p:nvPr/>
        </p:nvSpPr>
        <p:spPr>
          <a:xfrm>
            <a:off x="395536" y="2662416"/>
            <a:ext cx="864096" cy="1728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30%</a:t>
            </a:r>
            <a:endParaRPr lang="pt-BR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565F70B-FDC9-E1FB-D063-646B3D102FDE}"/>
              </a:ext>
            </a:extLst>
          </p:cNvPr>
          <p:cNvSpPr/>
          <p:nvPr/>
        </p:nvSpPr>
        <p:spPr>
          <a:xfrm>
            <a:off x="395536" y="4390608"/>
            <a:ext cx="864096" cy="16459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50%</a:t>
            </a:r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2951942-4A42-9C31-71A8-ECB3BF8D1DC4}"/>
              </a:ext>
            </a:extLst>
          </p:cNvPr>
          <p:cNvSpPr/>
          <p:nvPr/>
        </p:nvSpPr>
        <p:spPr>
          <a:xfrm>
            <a:off x="6553200" y="1628800"/>
            <a:ext cx="1403176" cy="36004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1F97FF9-D97E-9E74-DFAF-1E1CC2DDB0BB}"/>
              </a:ext>
            </a:extLst>
          </p:cNvPr>
          <p:cNvSpPr/>
          <p:nvPr/>
        </p:nvSpPr>
        <p:spPr>
          <a:xfrm>
            <a:off x="4294774" y="1901464"/>
            <a:ext cx="1403176" cy="36004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BA1E854-A0D3-C02C-E203-8301CB6D5600}"/>
              </a:ext>
            </a:extLst>
          </p:cNvPr>
          <p:cNvSpPr/>
          <p:nvPr/>
        </p:nvSpPr>
        <p:spPr>
          <a:xfrm>
            <a:off x="4302458" y="2257635"/>
            <a:ext cx="1403176" cy="36004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D9A8891-0710-65BB-C4B6-44CDC8699DF2}"/>
              </a:ext>
            </a:extLst>
          </p:cNvPr>
          <p:cNvSpPr/>
          <p:nvPr/>
        </p:nvSpPr>
        <p:spPr>
          <a:xfrm>
            <a:off x="6553200" y="3346492"/>
            <a:ext cx="1403176" cy="36004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4A77749-3B4F-7201-DF8C-2B34ECDFF74D}"/>
              </a:ext>
            </a:extLst>
          </p:cNvPr>
          <p:cNvSpPr/>
          <p:nvPr/>
        </p:nvSpPr>
        <p:spPr>
          <a:xfrm>
            <a:off x="6571098" y="5095967"/>
            <a:ext cx="1403176" cy="36004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7F45B44-945E-CDCF-EE37-578E08538F4A}"/>
              </a:ext>
            </a:extLst>
          </p:cNvPr>
          <p:cNvSpPr/>
          <p:nvPr/>
        </p:nvSpPr>
        <p:spPr>
          <a:xfrm>
            <a:off x="4273226" y="3640264"/>
            <a:ext cx="1403176" cy="36004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7261186-A771-0E41-4ACC-120FBAA0D80B}"/>
              </a:ext>
            </a:extLst>
          </p:cNvPr>
          <p:cNvSpPr/>
          <p:nvPr/>
        </p:nvSpPr>
        <p:spPr>
          <a:xfrm>
            <a:off x="4280910" y="3996435"/>
            <a:ext cx="1403176" cy="36004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6FB9D43-2CB7-B44A-8175-AC7818D71456}"/>
              </a:ext>
            </a:extLst>
          </p:cNvPr>
          <p:cNvSpPr/>
          <p:nvPr/>
        </p:nvSpPr>
        <p:spPr>
          <a:xfrm>
            <a:off x="5124490" y="5358567"/>
            <a:ext cx="1403176" cy="36004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0D95764-D9C9-04B3-1C6C-402A9A19A8C7}"/>
              </a:ext>
            </a:extLst>
          </p:cNvPr>
          <p:cNvSpPr/>
          <p:nvPr/>
        </p:nvSpPr>
        <p:spPr>
          <a:xfrm>
            <a:off x="4280910" y="5718607"/>
            <a:ext cx="1403176" cy="36004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31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25</a:t>
            </a:fld>
            <a:endParaRPr lang="pt-BR" altLang="en-US" dirty="0"/>
          </a:p>
        </p:txBody>
      </p:sp>
      <p:pic>
        <p:nvPicPr>
          <p:cNvPr id="6" name="Imagem 5">
            <a:hlinkClick r:id="rId3" action="ppaction://hlinksldjump"/>
            <a:extLst>
              <a:ext uri="{FF2B5EF4-FFF2-40B4-BE49-F238E27FC236}">
                <a16:creationId xmlns:a16="http://schemas.microsoft.com/office/drawing/2014/main" id="{5A3B0BEF-5E0E-A9F8-1D73-62B5DDC0F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96" y="1269334"/>
            <a:ext cx="2283435" cy="1675556"/>
          </a:xfrm>
          <a:prstGeom prst="rect">
            <a:avLst/>
          </a:prstGeom>
        </p:spPr>
      </p:pic>
      <p:pic>
        <p:nvPicPr>
          <p:cNvPr id="10" name="Imagem 9">
            <a:hlinkClick r:id="rId5" action="ppaction://hlinksldjump"/>
            <a:extLst>
              <a:ext uri="{FF2B5EF4-FFF2-40B4-BE49-F238E27FC236}">
                <a16:creationId xmlns:a16="http://schemas.microsoft.com/office/drawing/2014/main" id="{11C23B9F-5B62-E190-990B-25C81B776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0281" y="1269334"/>
            <a:ext cx="2283435" cy="1675556"/>
          </a:xfrm>
          <a:prstGeom prst="rect">
            <a:avLst/>
          </a:prstGeom>
        </p:spPr>
      </p:pic>
      <p:pic>
        <p:nvPicPr>
          <p:cNvPr id="12" name="Imagem 11">
            <a:hlinkClick r:id="rId7" action="ppaction://hlinksldjump"/>
            <a:extLst>
              <a:ext uri="{FF2B5EF4-FFF2-40B4-BE49-F238E27FC236}">
                <a16:creationId xmlns:a16="http://schemas.microsoft.com/office/drawing/2014/main" id="{F64843A6-B0E9-09BD-9961-6E40C821B3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6176" y="1269334"/>
            <a:ext cx="2283434" cy="1675556"/>
          </a:xfrm>
          <a:prstGeom prst="rect">
            <a:avLst/>
          </a:prstGeom>
        </p:spPr>
      </p:pic>
      <p:graphicFrame>
        <p:nvGraphicFramePr>
          <p:cNvPr id="14" name="Tabela 14">
            <a:extLst>
              <a:ext uri="{FF2B5EF4-FFF2-40B4-BE49-F238E27FC236}">
                <a16:creationId xmlns:a16="http://schemas.microsoft.com/office/drawing/2014/main" id="{193B6C38-3677-F4ED-8966-874D765DC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477997"/>
              </p:ext>
            </p:extLst>
          </p:nvPr>
        </p:nvGraphicFramePr>
        <p:xfrm>
          <a:off x="179512" y="3363626"/>
          <a:ext cx="28803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280">
                  <a:extLst>
                    <a:ext uri="{9D8B030D-6E8A-4147-A177-3AD203B41FA5}">
                      <a16:colId xmlns:a16="http://schemas.microsoft.com/office/drawing/2014/main" val="43241591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176670223"/>
                    </a:ext>
                  </a:extLst>
                </a:gridCol>
                <a:gridCol w="1269960">
                  <a:extLst>
                    <a:ext uri="{9D8B030D-6E8A-4147-A177-3AD203B41FA5}">
                      <a16:colId xmlns:a16="http://schemas.microsoft.com/office/drawing/2014/main" val="4230217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Distância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679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73,92m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212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82,68m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06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67,75m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6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126,14m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77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109,48m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278591"/>
                  </a:ext>
                </a:extLst>
              </a:tr>
            </a:tbl>
          </a:graphicData>
        </a:graphic>
      </p:graphicFrame>
      <p:graphicFrame>
        <p:nvGraphicFramePr>
          <p:cNvPr id="18" name="Tabela 14">
            <a:extLst>
              <a:ext uri="{FF2B5EF4-FFF2-40B4-BE49-F238E27FC236}">
                <a16:creationId xmlns:a16="http://schemas.microsoft.com/office/drawing/2014/main" id="{1D8A6899-E786-180E-EBDD-C5F3CCBDD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695643"/>
              </p:ext>
            </p:extLst>
          </p:nvPr>
        </p:nvGraphicFramePr>
        <p:xfrm>
          <a:off x="3131838" y="3378934"/>
          <a:ext cx="28803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280">
                  <a:extLst>
                    <a:ext uri="{9D8B030D-6E8A-4147-A177-3AD203B41FA5}">
                      <a16:colId xmlns:a16="http://schemas.microsoft.com/office/drawing/2014/main" val="43241591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176670223"/>
                    </a:ext>
                  </a:extLst>
                </a:gridCol>
                <a:gridCol w="1269960">
                  <a:extLst>
                    <a:ext uri="{9D8B030D-6E8A-4147-A177-3AD203B41FA5}">
                      <a16:colId xmlns:a16="http://schemas.microsoft.com/office/drawing/2014/main" val="4230217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Distância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679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74,02m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212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82,69m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06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67,75m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6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125,15m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77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110,20m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278591"/>
                  </a:ext>
                </a:extLst>
              </a:tr>
            </a:tbl>
          </a:graphicData>
        </a:graphic>
      </p:graphicFrame>
      <p:graphicFrame>
        <p:nvGraphicFramePr>
          <p:cNvPr id="19" name="Tabela 14">
            <a:extLst>
              <a:ext uri="{FF2B5EF4-FFF2-40B4-BE49-F238E27FC236}">
                <a16:creationId xmlns:a16="http://schemas.microsoft.com/office/drawing/2014/main" id="{C57773DF-8C96-FCD7-6808-0E028828E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413727"/>
              </p:ext>
            </p:extLst>
          </p:nvPr>
        </p:nvGraphicFramePr>
        <p:xfrm>
          <a:off x="6084168" y="3378934"/>
          <a:ext cx="28803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280">
                  <a:extLst>
                    <a:ext uri="{9D8B030D-6E8A-4147-A177-3AD203B41FA5}">
                      <a16:colId xmlns:a16="http://schemas.microsoft.com/office/drawing/2014/main" val="432415910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176670223"/>
                    </a:ext>
                  </a:extLst>
                </a:gridCol>
                <a:gridCol w="1269960">
                  <a:extLst>
                    <a:ext uri="{9D8B030D-6E8A-4147-A177-3AD203B41FA5}">
                      <a16:colId xmlns:a16="http://schemas.microsoft.com/office/drawing/2014/main" val="4230217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Distância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679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35,69m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212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69,41m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06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63,16m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6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121,88m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77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104,44m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278591"/>
                  </a:ext>
                </a:extLst>
              </a:tr>
            </a:tbl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1D15F8BB-57E6-CF6D-5045-A691873F93F2}"/>
              </a:ext>
            </a:extLst>
          </p:cNvPr>
          <p:cNvSpPr/>
          <p:nvPr/>
        </p:nvSpPr>
        <p:spPr>
          <a:xfrm>
            <a:off x="148778" y="4869160"/>
            <a:ext cx="2911050" cy="36004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862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 </a:t>
            </a:r>
            <a:r>
              <a:rPr lang="en-US" dirty="0"/>
              <a:t>– 15%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26</a:t>
            </a:fld>
            <a:endParaRPr lang="pt-BR" altLang="en-US" dirty="0"/>
          </a:p>
        </p:txBody>
      </p:sp>
      <p:sp>
        <p:nvSpPr>
          <p:cNvPr id="11" name="Retângulo: Cantos Arredondados 10">
            <a:hlinkClick r:id="rId4" action="ppaction://hlinksldjump"/>
            <a:extLst>
              <a:ext uri="{FF2B5EF4-FFF2-40B4-BE49-F238E27FC236}">
                <a16:creationId xmlns:a16="http://schemas.microsoft.com/office/drawing/2014/main" id="{DA2F199D-2831-FB7F-259C-4417943B2A36}"/>
              </a:ext>
            </a:extLst>
          </p:cNvPr>
          <p:cNvSpPr/>
          <p:nvPr/>
        </p:nvSpPr>
        <p:spPr>
          <a:xfrm>
            <a:off x="6553200" y="277813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A5EC290-88CC-892A-2CF9-C3CDA63B9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826" y="1469330"/>
            <a:ext cx="4036584" cy="3919339"/>
          </a:xfrm>
          <a:prstGeom prst="rect">
            <a:avLst/>
          </a:prstGeom>
        </p:spPr>
      </p:pic>
      <p:pic>
        <p:nvPicPr>
          <p:cNvPr id="8" name="Imagem 7" descr="Diagrama, Esquemático&#10;&#10;Descrição gerada automaticamente">
            <a:extLst>
              <a:ext uri="{FF2B5EF4-FFF2-40B4-BE49-F238E27FC236}">
                <a16:creationId xmlns:a16="http://schemas.microsoft.com/office/drawing/2014/main" id="{76A84EEF-BCB7-87E5-6D92-ECDBA030444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074121"/>
            <a:ext cx="4569190" cy="4938386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3F18340A-ECC6-F6F6-71D6-F92424B26948}"/>
              </a:ext>
            </a:extLst>
          </p:cNvPr>
          <p:cNvSpPr/>
          <p:nvPr/>
        </p:nvSpPr>
        <p:spPr>
          <a:xfrm rot="18672259">
            <a:off x="683278" y="4992662"/>
            <a:ext cx="792088" cy="360040"/>
          </a:xfrm>
          <a:prstGeom prst="ellipse">
            <a:avLst/>
          </a:prstGeom>
          <a:noFill/>
          <a:ln w="762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5CD37DC-2F44-877A-085B-3A8794D51C44}"/>
              </a:ext>
            </a:extLst>
          </p:cNvPr>
          <p:cNvSpPr/>
          <p:nvPr/>
        </p:nvSpPr>
        <p:spPr>
          <a:xfrm>
            <a:off x="6876256" y="1844824"/>
            <a:ext cx="887980" cy="576064"/>
          </a:xfrm>
          <a:prstGeom prst="ellipse">
            <a:avLst/>
          </a:prstGeom>
          <a:noFill/>
          <a:ln w="762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82CF7E10-0B3A-1BA3-0531-6BE72EC138A9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1403648" y="2132856"/>
            <a:ext cx="5472608" cy="2736304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59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 </a:t>
            </a:r>
            <a:r>
              <a:rPr lang="en-US" dirty="0"/>
              <a:t>– 30%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27</a:t>
            </a:fld>
            <a:endParaRPr lang="pt-BR" alt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9672A5-6DE5-A9B9-136D-D3C840E39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46" y="1484784"/>
            <a:ext cx="4104456" cy="3919339"/>
          </a:xfrm>
          <a:prstGeom prst="rect">
            <a:avLst/>
          </a:prstGeom>
        </p:spPr>
      </p:pic>
      <p:pic>
        <p:nvPicPr>
          <p:cNvPr id="9" name="Imagem 8" descr="Diagrama, Esquemático&#10;&#10;Descrição gerada automaticamente">
            <a:extLst>
              <a:ext uri="{FF2B5EF4-FFF2-40B4-BE49-F238E27FC236}">
                <a16:creationId xmlns:a16="http://schemas.microsoft.com/office/drawing/2014/main" id="{E89DFA25-8923-88D9-AFAE-E0DBE33B7E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052736"/>
            <a:ext cx="4572000" cy="4938387"/>
          </a:xfrm>
          <a:prstGeom prst="rect">
            <a:avLst/>
          </a:prstGeom>
        </p:spPr>
      </p:pic>
      <p:sp>
        <p:nvSpPr>
          <p:cNvPr id="10" name="Retângulo: Cantos Arredondados 9">
            <a:hlinkClick r:id="rId5" action="ppaction://hlinksldjump"/>
            <a:extLst>
              <a:ext uri="{FF2B5EF4-FFF2-40B4-BE49-F238E27FC236}">
                <a16:creationId xmlns:a16="http://schemas.microsoft.com/office/drawing/2014/main" id="{AD109E61-6E78-6992-D0A7-014FFB1C847C}"/>
              </a:ext>
            </a:extLst>
          </p:cNvPr>
          <p:cNvSpPr/>
          <p:nvPr/>
        </p:nvSpPr>
        <p:spPr>
          <a:xfrm>
            <a:off x="6553200" y="277813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5A92992-A466-E74C-D2D7-D76FF77BFDEB}"/>
              </a:ext>
            </a:extLst>
          </p:cNvPr>
          <p:cNvSpPr/>
          <p:nvPr/>
        </p:nvSpPr>
        <p:spPr>
          <a:xfrm rot="18672259">
            <a:off x="395246" y="5031843"/>
            <a:ext cx="792088" cy="360040"/>
          </a:xfrm>
          <a:prstGeom prst="ellipse">
            <a:avLst/>
          </a:prstGeom>
          <a:noFill/>
          <a:ln w="762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B8E1AE0-F1E8-A374-091F-38EFE8124298}"/>
              </a:ext>
            </a:extLst>
          </p:cNvPr>
          <p:cNvSpPr/>
          <p:nvPr/>
        </p:nvSpPr>
        <p:spPr>
          <a:xfrm>
            <a:off x="6948264" y="1792309"/>
            <a:ext cx="887980" cy="576064"/>
          </a:xfrm>
          <a:prstGeom prst="ellipse">
            <a:avLst/>
          </a:prstGeom>
          <a:noFill/>
          <a:ln w="762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A3E541D-480B-A10E-F31C-D057598A1F6A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 flipV="1">
            <a:off x="1052182" y="2080341"/>
            <a:ext cx="5896082" cy="2833552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61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 </a:t>
            </a:r>
            <a:r>
              <a:rPr lang="en-US" dirty="0"/>
              <a:t>– 50%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28</a:t>
            </a:fld>
            <a:endParaRPr lang="pt-BR" alt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396AF6-7FF1-8403-F439-DAD9EDA70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15" y="1484784"/>
            <a:ext cx="4036584" cy="3919339"/>
          </a:xfrm>
          <a:prstGeom prst="rect">
            <a:avLst/>
          </a:prstGeom>
        </p:spPr>
      </p:pic>
      <p:pic>
        <p:nvPicPr>
          <p:cNvPr id="9" name="Imagem 8" descr="Diagrama, Esquemático&#10;&#10;Descrição gerada automaticamente">
            <a:extLst>
              <a:ext uri="{FF2B5EF4-FFF2-40B4-BE49-F238E27FC236}">
                <a16:creationId xmlns:a16="http://schemas.microsoft.com/office/drawing/2014/main" id="{32C983AA-0B4D-09B9-737F-E0988D94F1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052736"/>
            <a:ext cx="4569190" cy="4938386"/>
          </a:xfrm>
          <a:prstGeom prst="rect">
            <a:avLst/>
          </a:prstGeom>
        </p:spPr>
      </p:pic>
      <p:sp>
        <p:nvSpPr>
          <p:cNvPr id="10" name="Retângulo: Cantos Arredondados 9">
            <a:hlinkClick r:id="rId6" action="ppaction://hlinksldjump"/>
            <a:extLst>
              <a:ext uri="{FF2B5EF4-FFF2-40B4-BE49-F238E27FC236}">
                <a16:creationId xmlns:a16="http://schemas.microsoft.com/office/drawing/2014/main" id="{D29D607B-B2C5-EFB6-0698-784DC1F65CA2}"/>
              </a:ext>
            </a:extLst>
          </p:cNvPr>
          <p:cNvSpPr/>
          <p:nvPr/>
        </p:nvSpPr>
        <p:spPr>
          <a:xfrm>
            <a:off x="6553200" y="277813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036A9EB8-9959-0914-AC9F-971D50B29759}"/>
              </a:ext>
            </a:extLst>
          </p:cNvPr>
          <p:cNvSpPr/>
          <p:nvPr/>
        </p:nvSpPr>
        <p:spPr>
          <a:xfrm rot="18672259">
            <a:off x="683278" y="4992662"/>
            <a:ext cx="792088" cy="360040"/>
          </a:xfrm>
          <a:prstGeom prst="ellipse">
            <a:avLst/>
          </a:prstGeom>
          <a:noFill/>
          <a:ln w="762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3B7C0FB-F36C-B49D-F9CA-C5FDE86AFAFA}"/>
              </a:ext>
            </a:extLst>
          </p:cNvPr>
          <p:cNvSpPr/>
          <p:nvPr/>
        </p:nvSpPr>
        <p:spPr>
          <a:xfrm>
            <a:off x="6876256" y="1844824"/>
            <a:ext cx="887980" cy="576064"/>
          </a:xfrm>
          <a:prstGeom prst="ellipse">
            <a:avLst/>
          </a:prstGeom>
          <a:noFill/>
          <a:ln w="762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9177EE7C-7027-B2DB-1F71-B69758F72212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403648" y="2132856"/>
            <a:ext cx="5472608" cy="2736304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16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Dimensionamento</a:t>
            </a:r>
            <a:r>
              <a:rPr lang="en-US" dirty="0"/>
              <a:t> dos </a:t>
            </a:r>
            <a:r>
              <a:rPr lang="en-US" dirty="0" err="1"/>
              <a:t>bancos</a:t>
            </a:r>
            <a:r>
              <a:rPr lang="en-US" dirty="0"/>
              <a:t> de </a:t>
            </a:r>
            <a:r>
              <a:rPr lang="en-US" dirty="0" err="1"/>
              <a:t>baterias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29</a:t>
            </a:fld>
            <a:endParaRPr lang="pt-BR" altLang="en-US" dirty="0"/>
          </a:p>
        </p:txBody>
      </p:sp>
      <p:graphicFrame>
        <p:nvGraphicFramePr>
          <p:cNvPr id="3" name="Tabela 4">
            <a:extLst>
              <a:ext uri="{FF2B5EF4-FFF2-40B4-BE49-F238E27FC236}">
                <a16:creationId xmlns:a16="http://schemas.microsoft.com/office/drawing/2014/main" id="{3BB9C9DF-808C-7777-04C8-B2D207B97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098136"/>
              </p:ext>
            </p:extLst>
          </p:nvPr>
        </p:nvGraphicFramePr>
        <p:xfrm>
          <a:off x="457200" y="1421209"/>
          <a:ext cx="8229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472">
                  <a:extLst>
                    <a:ext uri="{9D8B030D-6E8A-4147-A177-3AD203B41FA5}">
                      <a16:colId xmlns:a16="http://schemas.microsoft.com/office/drawing/2014/main" val="78598684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5633414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492133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73078963"/>
                    </a:ext>
                  </a:extLst>
                </a:gridCol>
                <a:gridCol w="2023120">
                  <a:extLst>
                    <a:ext uri="{9D8B030D-6E8A-4147-A177-3AD203B41FA5}">
                      <a16:colId xmlns:a16="http://schemas.microsoft.com/office/drawing/2014/main" val="344298947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909305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Redução</a:t>
                      </a:r>
                    </a:p>
                    <a:p>
                      <a:pPr algn="ctr"/>
                      <a:r>
                        <a:rPr lang="pt-BR" dirty="0"/>
                        <a:t>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Pot. Máxima média 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Desvio Padrão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Capacidade da bateria (Wh)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Desvio Padrão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904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25,65%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149,53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70,97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45,79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21,73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601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29,38%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338,96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103,81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50,54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7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32,04%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729,24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373,67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223,33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114,43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948781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375F047-F043-032E-7C4A-06A266D81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600701"/>
              </p:ext>
            </p:extLst>
          </p:nvPr>
        </p:nvGraphicFramePr>
        <p:xfrm>
          <a:off x="457200" y="3684191"/>
          <a:ext cx="8229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472">
                  <a:extLst>
                    <a:ext uri="{9D8B030D-6E8A-4147-A177-3AD203B41FA5}">
                      <a16:colId xmlns:a16="http://schemas.microsoft.com/office/drawing/2014/main" val="78598684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5633414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492133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73078963"/>
                    </a:ext>
                  </a:extLst>
                </a:gridCol>
                <a:gridCol w="2023120">
                  <a:extLst>
                    <a:ext uri="{9D8B030D-6E8A-4147-A177-3AD203B41FA5}">
                      <a16:colId xmlns:a16="http://schemas.microsoft.com/office/drawing/2014/main" val="344298947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909305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Redução VV&amp;VW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Pot. Máxima média 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Desvio Padrão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Capacidade da bateria (Wh)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Desvio Padrão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904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35,62%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78,95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43,69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24,18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13,38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601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38,73%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126,39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68,36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20,93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7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36,03%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183,32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108,11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56,14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33,11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948781"/>
                  </a:ext>
                </a:extLst>
              </a:tr>
            </a:tbl>
          </a:graphicData>
        </a:graphic>
      </p:graphicFrame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A633A37E-ABDD-5C16-5611-82D63025E662}"/>
              </a:ext>
            </a:extLst>
          </p:cNvPr>
          <p:cNvCxnSpPr/>
          <p:nvPr/>
        </p:nvCxnSpPr>
        <p:spPr>
          <a:xfrm>
            <a:off x="3995936" y="2204864"/>
            <a:ext cx="0" cy="7920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B2E1876-4699-F0B2-EE33-A532183182F7}"/>
              </a:ext>
            </a:extLst>
          </p:cNvPr>
          <p:cNvCxnSpPr/>
          <p:nvPr/>
        </p:nvCxnSpPr>
        <p:spPr>
          <a:xfrm>
            <a:off x="7020272" y="2204864"/>
            <a:ext cx="0" cy="7920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33A8CFD4-FF25-DF0D-DB49-76E0A269F974}"/>
              </a:ext>
            </a:extLst>
          </p:cNvPr>
          <p:cNvCxnSpPr/>
          <p:nvPr/>
        </p:nvCxnSpPr>
        <p:spPr>
          <a:xfrm>
            <a:off x="3995936" y="4486068"/>
            <a:ext cx="0" cy="7920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918E3BFF-5C72-D4A4-12EC-E2B194D9E911}"/>
              </a:ext>
            </a:extLst>
          </p:cNvPr>
          <p:cNvCxnSpPr/>
          <p:nvPr/>
        </p:nvCxnSpPr>
        <p:spPr>
          <a:xfrm>
            <a:off x="6948264" y="4486068"/>
            <a:ext cx="0" cy="7920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E132BE0F-3952-3D9A-A115-35A3E895654A}"/>
              </a:ext>
            </a:extLst>
          </p:cNvPr>
          <p:cNvSpPr/>
          <p:nvPr/>
        </p:nvSpPr>
        <p:spPr>
          <a:xfrm>
            <a:off x="3059832" y="2780928"/>
            <a:ext cx="792086" cy="39288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67E08EF-E491-DC59-6861-B7DD909E5382}"/>
              </a:ext>
            </a:extLst>
          </p:cNvPr>
          <p:cNvSpPr/>
          <p:nvPr/>
        </p:nvSpPr>
        <p:spPr>
          <a:xfrm>
            <a:off x="5891196" y="2780928"/>
            <a:ext cx="792086" cy="39288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F40AD89-2133-F2F6-723E-C729550D32E1}"/>
              </a:ext>
            </a:extLst>
          </p:cNvPr>
          <p:cNvSpPr/>
          <p:nvPr/>
        </p:nvSpPr>
        <p:spPr>
          <a:xfrm>
            <a:off x="5891196" y="5043910"/>
            <a:ext cx="792086" cy="39288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EB15006-3EEF-A28C-4E59-7D77B798B163}"/>
              </a:ext>
            </a:extLst>
          </p:cNvPr>
          <p:cNvSpPr/>
          <p:nvPr/>
        </p:nvSpPr>
        <p:spPr>
          <a:xfrm>
            <a:off x="3059832" y="5081715"/>
            <a:ext cx="792086" cy="39288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39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Box </a:t>
            </a:r>
            <a:r>
              <a:rPr lang="pt-BR" dirty="0" err="1"/>
              <a:t>Plot</a:t>
            </a:r>
            <a:r>
              <a:rPr lang="pt-BR" dirty="0"/>
              <a:t> Banco de Baterias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30</a:t>
            </a:fld>
            <a:endParaRPr lang="pt-BR" altLang="en-US" dirty="0"/>
          </a:p>
        </p:txBody>
      </p:sp>
      <p:pic>
        <p:nvPicPr>
          <p:cNvPr id="5" name="Imagem 4">
            <a:hlinkClick r:id="rId3" action="ppaction://hlinksldjump"/>
            <a:extLst>
              <a:ext uri="{FF2B5EF4-FFF2-40B4-BE49-F238E27FC236}">
                <a16:creationId xmlns:a16="http://schemas.microsoft.com/office/drawing/2014/main" id="{EC53AFAB-B3F0-CE69-1302-48A94FA7C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061" y="3768995"/>
            <a:ext cx="2951877" cy="2180283"/>
          </a:xfrm>
          <a:prstGeom prst="rect">
            <a:avLst/>
          </a:prstGeom>
        </p:spPr>
      </p:pic>
      <p:pic>
        <p:nvPicPr>
          <p:cNvPr id="8" name="Imagem 7">
            <a:hlinkClick r:id="rId5" action="ppaction://hlinksldjump"/>
            <a:extLst>
              <a:ext uri="{FF2B5EF4-FFF2-40B4-BE49-F238E27FC236}">
                <a16:creationId xmlns:a16="http://schemas.microsoft.com/office/drawing/2014/main" id="{06E5A2ED-0BE8-BAF2-5AD8-3C69E8FD97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6473" y="1257706"/>
            <a:ext cx="2951877" cy="2180284"/>
          </a:xfrm>
          <a:prstGeom prst="rect">
            <a:avLst/>
          </a:prstGeom>
        </p:spPr>
      </p:pic>
      <p:pic>
        <p:nvPicPr>
          <p:cNvPr id="11" name="Imagem 10">
            <a:hlinkClick r:id="rId7" action="ppaction://hlinksldjump"/>
            <a:extLst>
              <a:ext uri="{FF2B5EF4-FFF2-40B4-BE49-F238E27FC236}">
                <a16:creationId xmlns:a16="http://schemas.microsoft.com/office/drawing/2014/main" id="{0ECE7A51-785B-5BA4-94B4-00CAC832FE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5651" y="1257706"/>
            <a:ext cx="2951877" cy="218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93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 </a:t>
            </a:r>
            <a:r>
              <a:rPr lang="en-US" dirty="0"/>
              <a:t>– 15%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31</a:t>
            </a:fld>
            <a:endParaRPr lang="pt-BR" altLang="en-US" dirty="0"/>
          </a:p>
        </p:txBody>
      </p:sp>
      <p:sp>
        <p:nvSpPr>
          <p:cNvPr id="11" name="Retângulo: Cantos Arredondados 10">
            <a:hlinkClick r:id="rId3" action="ppaction://hlinksldjump"/>
            <a:extLst>
              <a:ext uri="{FF2B5EF4-FFF2-40B4-BE49-F238E27FC236}">
                <a16:creationId xmlns:a16="http://schemas.microsoft.com/office/drawing/2014/main" id="{DA2F199D-2831-FB7F-259C-4417943B2A36}"/>
              </a:ext>
            </a:extLst>
          </p:cNvPr>
          <p:cNvSpPr/>
          <p:nvPr/>
        </p:nvSpPr>
        <p:spPr>
          <a:xfrm>
            <a:off x="6553200" y="277813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  <p:pic>
        <p:nvPicPr>
          <p:cNvPr id="5" name="Imagem 4" descr="Gráfico, Gráfico de caixa estreita&#10;&#10;Descrição gerada automaticamente">
            <a:extLst>
              <a:ext uri="{FF2B5EF4-FFF2-40B4-BE49-F238E27FC236}">
                <a16:creationId xmlns:a16="http://schemas.microsoft.com/office/drawing/2014/main" id="{D61AB6C5-7E11-9ECE-769E-60E8622393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9" y="1426866"/>
            <a:ext cx="4566093" cy="3913794"/>
          </a:xfrm>
          <a:prstGeom prst="rect">
            <a:avLst/>
          </a:prstGeom>
        </p:spPr>
      </p:pic>
      <p:pic>
        <p:nvPicPr>
          <p:cNvPr id="9" name="Imagem 8" descr="Gráfico, Gráfico de caixa estreita&#10;&#10;Descrição gerada automaticamente">
            <a:extLst>
              <a:ext uri="{FF2B5EF4-FFF2-40B4-BE49-F238E27FC236}">
                <a16:creationId xmlns:a16="http://schemas.microsoft.com/office/drawing/2014/main" id="{8379F051-204B-B5C9-0FA5-FDA75F32FB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288" y="1460164"/>
            <a:ext cx="4566094" cy="393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33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Gráfico, Gráfico de caixa estreita&#10;&#10;Descrição gerada automaticamente">
            <a:extLst>
              <a:ext uri="{FF2B5EF4-FFF2-40B4-BE49-F238E27FC236}">
                <a16:creationId xmlns:a16="http://schemas.microsoft.com/office/drawing/2014/main" id="{249FCF0C-201D-2845-5FD1-39F411B3F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484784"/>
            <a:ext cx="4566095" cy="3913796"/>
          </a:xfrm>
          <a:prstGeom prst="rect">
            <a:avLst/>
          </a:prstGeom>
        </p:spPr>
      </p:pic>
      <p:pic>
        <p:nvPicPr>
          <p:cNvPr id="3" name="Imagem 2" descr="Gráfico, Gráfico de caixa estreita&#10;&#10;Descrição gerada automaticamente">
            <a:extLst>
              <a:ext uri="{FF2B5EF4-FFF2-40B4-BE49-F238E27FC236}">
                <a16:creationId xmlns:a16="http://schemas.microsoft.com/office/drawing/2014/main" id="{F0AE3448-B9C9-851A-B8C6-B17F6186A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462206"/>
            <a:ext cx="4566095" cy="3937673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 </a:t>
            </a:r>
            <a:r>
              <a:rPr lang="en-US" dirty="0"/>
              <a:t>– 30%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32</a:t>
            </a:fld>
            <a:endParaRPr lang="pt-BR" altLang="en-US" dirty="0"/>
          </a:p>
        </p:txBody>
      </p:sp>
      <p:sp>
        <p:nvSpPr>
          <p:cNvPr id="7" name="Retângulo: Cantos Arredondados 6">
            <a:hlinkClick r:id="rId5" action="ppaction://hlinksldjump"/>
            <a:extLst>
              <a:ext uri="{FF2B5EF4-FFF2-40B4-BE49-F238E27FC236}">
                <a16:creationId xmlns:a16="http://schemas.microsoft.com/office/drawing/2014/main" id="{B2AEAE4B-5991-A99D-99F8-A33942B59460}"/>
              </a:ext>
            </a:extLst>
          </p:cNvPr>
          <p:cNvSpPr/>
          <p:nvPr/>
        </p:nvSpPr>
        <p:spPr>
          <a:xfrm>
            <a:off x="6553200" y="277813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4143166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Gráfico, Gráfico de caixa estreita&#10;&#10;Descrição gerada automaticamente">
            <a:extLst>
              <a:ext uri="{FF2B5EF4-FFF2-40B4-BE49-F238E27FC236}">
                <a16:creationId xmlns:a16="http://schemas.microsoft.com/office/drawing/2014/main" id="{AE7B45D4-46A7-B6A3-9C45-6732804A7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484783"/>
            <a:ext cx="4566097" cy="3913797"/>
          </a:xfrm>
          <a:prstGeom prst="rect">
            <a:avLst/>
          </a:prstGeom>
        </p:spPr>
      </p:pic>
      <p:pic>
        <p:nvPicPr>
          <p:cNvPr id="9" name="Imagem 8" descr="Gráfico, Gráfico de caixa estreita&#10;&#10;Descrição gerada automaticamente">
            <a:extLst>
              <a:ext uri="{FF2B5EF4-FFF2-40B4-BE49-F238E27FC236}">
                <a16:creationId xmlns:a16="http://schemas.microsoft.com/office/drawing/2014/main" id="{C3F5BAEA-235E-B722-6075-8AC3346F6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365" y="1458121"/>
            <a:ext cx="4566097" cy="393767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 </a:t>
            </a:r>
            <a:r>
              <a:rPr lang="en-US" dirty="0"/>
              <a:t>– 50%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33</a:t>
            </a:fld>
            <a:endParaRPr lang="pt-BR" altLang="en-US" dirty="0"/>
          </a:p>
        </p:txBody>
      </p:sp>
      <p:sp>
        <p:nvSpPr>
          <p:cNvPr id="12" name="Retângulo: Cantos Arredondados 11">
            <a:hlinkClick r:id="rId5" action="ppaction://hlinksldjump"/>
            <a:extLst>
              <a:ext uri="{FF2B5EF4-FFF2-40B4-BE49-F238E27FC236}">
                <a16:creationId xmlns:a16="http://schemas.microsoft.com/office/drawing/2014/main" id="{034C8974-976F-6F7E-7330-3DEA9B2A6985}"/>
              </a:ext>
            </a:extLst>
          </p:cNvPr>
          <p:cNvSpPr/>
          <p:nvPr/>
        </p:nvSpPr>
        <p:spPr>
          <a:xfrm>
            <a:off x="6553200" y="277813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4843537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Indicadores</a:t>
            </a:r>
            <a:r>
              <a:rPr lang="en-US" dirty="0"/>
              <a:t> BESS – E-Rate e </a:t>
            </a:r>
            <a:r>
              <a:rPr lang="en-US" dirty="0" err="1"/>
              <a:t>BESSPVRatio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34</a:t>
            </a:fld>
            <a:endParaRPr lang="pt-BR" altLang="en-US" dirty="0"/>
          </a:p>
        </p:txBody>
      </p:sp>
      <p:graphicFrame>
        <p:nvGraphicFramePr>
          <p:cNvPr id="3" name="Tabela 4">
            <a:extLst>
              <a:ext uri="{FF2B5EF4-FFF2-40B4-BE49-F238E27FC236}">
                <a16:creationId xmlns:a16="http://schemas.microsoft.com/office/drawing/2014/main" id="{3BB9C9DF-808C-7777-04C8-B2D207B97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714816"/>
              </p:ext>
            </p:extLst>
          </p:nvPr>
        </p:nvGraphicFramePr>
        <p:xfrm>
          <a:off x="457200" y="1421209"/>
          <a:ext cx="8229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472">
                  <a:extLst>
                    <a:ext uri="{9D8B030D-6E8A-4147-A177-3AD203B41FA5}">
                      <a16:colId xmlns:a16="http://schemas.microsoft.com/office/drawing/2014/main" val="78598684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5633414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492133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73078963"/>
                    </a:ext>
                  </a:extLst>
                </a:gridCol>
                <a:gridCol w="2023120">
                  <a:extLst>
                    <a:ext uri="{9D8B030D-6E8A-4147-A177-3AD203B41FA5}">
                      <a16:colId xmlns:a16="http://schemas.microsoft.com/office/drawing/2014/main" val="344298947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909305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Redução</a:t>
                      </a:r>
                    </a:p>
                    <a:p>
                      <a:pPr algn="ctr"/>
                      <a:r>
                        <a:rPr lang="pt-BR" dirty="0"/>
                        <a:t>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E-Rate</a:t>
                      </a:r>
                      <a:r>
                        <a:rPr lang="pt-BR" dirty="0"/>
                        <a:t> 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Desvio Padrão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BESSPVRatio</a:t>
                      </a:r>
                      <a:r>
                        <a:rPr lang="pt-BR" dirty="0"/>
                        <a:t> 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Desvio Padrão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904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25,65%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30,62%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13,65%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4,88%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601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29,38%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30,62%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31,26%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12,62%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7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32,04%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30,62%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57,72%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35,97%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948781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375F047-F043-032E-7C4A-06A266D81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172886"/>
              </p:ext>
            </p:extLst>
          </p:nvPr>
        </p:nvGraphicFramePr>
        <p:xfrm>
          <a:off x="457200" y="3684191"/>
          <a:ext cx="8229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472">
                  <a:extLst>
                    <a:ext uri="{9D8B030D-6E8A-4147-A177-3AD203B41FA5}">
                      <a16:colId xmlns:a16="http://schemas.microsoft.com/office/drawing/2014/main" val="78598684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5633414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492133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73078963"/>
                    </a:ext>
                  </a:extLst>
                </a:gridCol>
                <a:gridCol w="2023120">
                  <a:extLst>
                    <a:ext uri="{9D8B030D-6E8A-4147-A177-3AD203B41FA5}">
                      <a16:colId xmlns:a16="http://schemas.microsoft.com/office/drawing/2014/main" val="344298947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909305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Redução</a:t>
                      </a:r>
                    </a:p>
                    <a:p>
                      <a:pPr algn="ctr"/>
                      <a:r>
                        <a:rPr lang="pt-BR" dirty="0"/>
                        <a:t>VV&amp;VW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E-Rate</a:t>
                      </a:r>
                      <a:r>
                        <a:rPr lang="pt-BR" dirty="0"/>
                        <a:t> 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Desvio Padrão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BESSPVRatio</a:t>
                      </a:r>
                      <a:r>
                        <a:rPr lang="pt-BR" dirty="0"/>
                        <a:t> 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Desvio Padrão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904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25,65%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30,62%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4,79%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2,56%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601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29,38%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30,62%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7,14%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4,68%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7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32,04%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30,62%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10,16%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7,13%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948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328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Indicadores</a:t>
            </a:r>
            <a:r>
              <a:rPr lang="en-US" dirty="0"/>
              <a:t> BESS – </a:t>
            </a:r>
            <a:r>
              <a:rPr lang="en-US" dirty="0" err="1"/>
              <a:t>PVLoadRatio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35</a:t>
            </a:fld>
            <a:endParaRPr lang="pt-BR" altLang="en-US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375F047-F043-032E-7C4A-06A266D81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790593"/>
              </p:ext>
            </p:extLst>
          </p:nvPr>
        </p:nvGraphicFramePr>
        <p:xfrm>
          <a:off x="457200" y="3254441"/>
          <a:ext cx="8219256" cy="234285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78598684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15633414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8813732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492133001"/>
                    </a:ext>
                  </a:extLst>
                </a:gridCol>
                <a:gridCol w="1179690">
                  <a:extLst>
                    <a:ext uri="{9D8B030D-6E8A-4147-A177-3AD203B41FA5}">
                      <a16:colId xmlns:a16="http://schemas.microsoft.com/office/drawing/2014/main" val="173078963"/>
                    </a:ext>
                  </a:extLst>
                </a:gridCol>
                <a:gridCol w="1183388">
                  <a:extLst>
                    <a:ext uri="{9D8B030D-6E8A-4147-A177-3AD203B41FA5}">
                      <a16:colId xmlns:a16="http://schemas.microsoft.com/office/drawing/2014/main" val="1804476356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3442989478"/>
                    </a:ext>
                  </a:extLst>
                </a:gridCol>
              </a:tblGrid>
              <a:tr h="351723">
                <a:tc row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Redução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VW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VV &amp; VW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098565"/>
                  </a:ext>
                </a:extLst>
              </a:tr>
              <a:tr h="615515">
                <a:tc vMerge="1"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Redução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HC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HCC Médio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Desvio Padrão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HC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HCC Médio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Desvio Padrão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904362"/>
                  </a:ext>
                </a:extLst>
              </a:tr>
              <a:tr h="44567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25,65%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4,39%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15,24%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35,62%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0,36%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1,87%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601774"/>
                  </a:ext>
                </a:extLst>
              </a:tr>
              <a:tr h="44567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29,38%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5,06%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14,27%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38,73%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0,58%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pt-BR" dirty="0"/>
                        <a:t>,55%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7494"/>
                  </a:ext>
                </a:extLst>
              </a:tr>
              <a:tr h="44567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32,04%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5,83%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17,81%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36,06%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1,45%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pt-BR" dirty="0"/>
                        <a:t>,56%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948781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57FE8EB-ED61-0036-990B-DFFF95BA8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91229"/>
              </p:ext>
            </p:extLst>
          </p:nvPr>
        </p:nvGraphicFramePr>
        <p:xfrm>
          <a:off x="2012950" y="1124744"/>
          <a:ext cx="51181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>
                  <a:extLst>
                    <a:ext uri="{9D8B030D-6E8A-4147-A177-3AD203B41FA5}">
                      <a16:colId xmlns:a16="http://schemas.microsoft.com/office/drawing/2014/main" val="785986841"/>
                    </a:ext>
                  </a:extLst>
                </a:gridCol>
                <a:gridCol w="1414780">
                  <a:extLst>
                    <a:ext uri="{9D8B030D-6E8A-4147-A177-3AD203B41FA5}">
                      <a16:colId xmlns:a16="http://schemas.microsoft.com/office/drawing/2014/main" val="4156334142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3492133001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173078963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3442989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Redução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Caso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VV&amp;VW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904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601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7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948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4801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41237"/>
            <a:ext cx="8229600" cy="630907"/>
          </a:xfrm>
        </p:spPr>
        <p:txBody>
          <a:bodyPr/>
          <a:lstStyle/>
          <a:p>
            <a:r>
              <a:rPr lang="en-US" dirty="0" err="1"/>
              <a:t>Valores</a:t>
            </a:r>
            <a:r>
              <a:rPr lang="en-US" dirty="0"/>
              <a:t> de HC </a:t>
            </a:r>
            <a:r>
              <a:rPr lang="en-US" dirty="0" err="1"/>
              <a:t>considerando</a:t>
            </a:r>
            <a:r>
              <a:rPr lang="en-US" dirty="0"/>
              <a:t> BESS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36</a:t>
            </a:fld>
            <a:endParaRPr lang="pt-BR" altLang="en-US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DB10211B-AA7D-BB1A-899D-962050355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011213"/>
              </p:ext>
            </p:extLst>
          </p:nvPr>
        </p:nvGraphicFramePr>
        <p:xfrm>
          <a:off x="457200" y="1219724"/>
          <a:ext cx="8219256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78598684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15633414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8813732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492133001"/>
                    </a:ext>
                  </a:extLst>
                </a:gridCol>
                <a:gridCol w="1179690">
                  <a:extLst>
                    <a:ext uri="{9D8B030D-6E8A-4147-A177-3AD203B41FA5}">
                      <a16:colId xmlns:a16="http://schemas.microsoft.com/office/drawing/2014/main" val="173078963"/>
                    </a:ext>
                  </a:extLst>
                </a:gridCol>
                <a:gridCol w="1183388">
                  <a:extLst>
                    <a:ext uri="{9D8B030D-6E8A-4147-A177-3AD203B41FA5}">
                      <a16:colId xmlns:a16="http://schemas.microsoft.com/office/drawing/2014/main" val="1804476356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3442989478"/>
                    </a:ext>
                  </a:extLst>
                </a:gridCol>
              </a:tblGrid>
              <a:tr h="272666">
                <a:tc row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Redução</a:t>
                      </a:r>
                    </a:p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VW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Com PV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Com PV e BESS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098565"/>
                  </a:ext>
                </a:extLst>
              </a:tr>
              <a:tr h="477165">
                <a:tc vMerge="1"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Redução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HC Médio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Desvio Padrão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HC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HC Médio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Desvio Padrão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HC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904362"/>
                  </a:ext>
                </a:extLst>
              </a:tr>
              <a:tr h="272666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39,16%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13,51%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25,65%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41,08%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13,66%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27,42%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601774"/>
                  </a:ext>
                </a:extLst>
              </a:tr>
              <a:tr h="272666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42,45%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13,07%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29,38%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46,81%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13,17%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33,64%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7494"/>
                  </a:ext>
                </a:extLst>
              </a:tr>
              <a:tr h="272666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47,01%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14,97%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32,04%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56,25%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15,82%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40,43%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948781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D28543D0-E165-843E-6B53-0C5A7CFC6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514411"/>
              </p:ext>
            </p:extLst>
          </p:nvPr>
        </p:nvGraphicFramePr>
        <p:xfrm>
          <a:off x="458797" y="3620602"/>
          <a:ext cx="8219256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78598684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15633414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8813732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492133001"/>
                    </a:ext>
                  </a:extLst>
                </a:gridCol>
                <a:gridCol w="1179690">
                  <a:extLst>
                    <a:ext uri="{9D8B030D-6E8A-4147-A177-3AD203B41FA5}">
                      <a16:colId xmlns:a16="http://schemas.microsoft.com/office/drawing/2014/main" val="173078963"/>
                    </a:ext>
                  </a:extLst>
                </a:gridCol>
                <a:gridCol w="1183388">
                  <a:extLst>
                    <a:ext uri="{9D8B030D-6E8A-4147-A177-3AD203B41FA5}">
                      <a16:colId xmlns:a16="http://schemas.microsoft.com/office/drawing/2014/main" val="1804476356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3442989478"/>
                    </a:ext>
                  </a:extLst>
                </a:gridCol>
              </a:tblGrid>
              <a:tr h="237715">
                <a:tc row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Redução VV&amp;VW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Com PV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Com PV e BESS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098565"/>
                  </a:ext>
                </a:extLst>
              </a:tr>
              <a:tr h="416002">
                <a:tc vMerge="1"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Redução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HC Médio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Desvio Padrão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HC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HC Médio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Desvio Padrão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HC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904362"/>
                  </a:ext>
                </a:extLst>
              </a:tr>
              <a:tr h="262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50,88%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15,26%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35,62%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51,57%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15,26%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36,31%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601774"/>
                  </a:ext>
                </a:extLst>
              </a:tr>
              <a:tr h="262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53,50%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14,77%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38,73%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54,71%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14,75%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39,96%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7494"/>
                  </a:ext>
                </a:extLst>
              </a:tr>
              <a:tr h="262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52,53%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16,50%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36,03%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54,44%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16,26%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38,18%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948781"/>
                  </a:ext>
                </a:extLst>
              </a:tr>
            </a:tbl>
          </a:graphicData>
        </a:graphic>
      </p:graphicFrame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2D33226-921D-BF52-A3D1-469BBD0F0AE1}"/>
              </a:ext>
            </a:extLst>
          </p:cNvPr>
          <p:cNvCxnSpPr>
            <a:cxnSpLocks/>
          </p:cNvCxnSpPr>
          <p:nvPr/>
        </p:nvCxnSpPr>
        <p:spPr>
          <a:xfrm>
            <a:off x="2699792" y="2420888"/>
            <a:ext cx="2160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A282010-C90E-2AEC-FB3F-E0E977924304}"/>
              </a:ext>
            </a:extLst>
          </p:cNvPr>
          <p:cNvCxnSpPr>
            <a:cxnSpLocks/>
          </p:cNvCxnSpPr>
          <p:nvPr/>
        </p:nvCxnSpPr>
        <p:spPr>
          <a:xfrm>
            <a:off x="3779912" y="2420888"/>
            <a:ext cx="2160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5F19E04-5407-03F7-7C3D-8B80A047029E}"/>
              </a:ext>
            </a:extLst>
          </p:cNvPr>
          <p:cNvCxnSpPr>
            <a:cxnSpLocks/>
          </p:cNvCxnSpPr>
          <p:nvPr/>
        </p:nvCxnSpPr>
        <p:spPr>
          <a:xfrm>
            <a:off x="3779912" y="2492896"/>
            <a:ext cx="2160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98E35107-4EDB-E4D7-2FA3-A6106E0D2A5B}"/>
              </a:ext>
            </a:extLst>
          </p:cNvPr>
          <p:cNvSpPr/>
          <p:nvPr/>
        </p:nvSpPr>
        <p:spPr>
          <a:xfrm>
            <a:off x="4046242" y="2224447"/>
            <a:ext cx="885798" cy="39288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E4CA1F2-109C-B152-ED8E-123BC07E6880}"/>
              </a:ext>
            </a:extLst>
          </p:cNvPr>
          <p:cNvSpPr/>
          <p:nvPr/>
        </p:nvSpPr>
        <p:spPr>
          <a:xfrm>
            <a:off x="7646642" y="2224446"/>
            <a:ext cx="885798" cy="39288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389841D6-9978-7AF1-14F4-BA926C1C117C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4932040" y="2420887"/>
            <a:ext cx="2714602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B0CEAAC4-4232-62DC-B61B-7123BD1AFDA1}"/>
              </a:ext>
            </a:extLst>
          </p:cNvPr>
          <p:cNvSpPr/>
          <p:nvPr/>
        </p:nvSpPr>
        <p:spPr>
          <a:xfrm>
            <a:off x="4046242" y="2616275"/>
            <a:ext cx="885798" cy="3568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08C5728-DB1A-E65F-2281-BB37C426642A}"/>
              </a:ext>
            </a:extLst>
          </p:cNvPr>
          <p:cNvSpPr/>
          <p:nvPr/>
        </p:nvSpPr>
        <p:spPr>
          <a:xfrm>
            <a:off x="7636368" y="2616274"/>
            <a:ext cx="885798" cy="3568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2F1C8C89-D348-F77F-DE3D-B3B988505CAD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4932040" y="2794676"/>
            <a:ext cx="2704328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81FCED79-1B46-12C1-6B24-AD3A67210F6A}"/>
              </a:ext>
            </a:extLst>
          </p:cNvPr>
          <p:cNvSpPr/>
          <p:nvPr/>
        </p:nvSpPr>
        <p:spPr>
          <a:xfrm>
            <a:off x="4046242" y="2966040"/>
            <a:ext cx="885798" cy="3568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C64641A-6EEB-E4D9-9E7D-128F2B422C5B}"/>
              </a:ext>
            </a:extLst>
          </p:cNvPr>
          <p:cNvSpPr/>
          <p:nvPr/>
        </p:nvSpPr>
        <p:spPr>
          <a:xfrm>
            <a:off x="7656277" y="2966040"/>
            <a:ext cx="885798" cy="3568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75DCEEF2-5369-F920-FB14-77C94BBBA79D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4932040" y="3144442"/>
            <a:ext cx="2724237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4187ED0A-290F-BBAA-62B2-8E583525374C}"/>
              </a:ext>
            </a:extLst>
          </p:cNvPr>
          <p:cNvSpPr/>
          <p:nvPr/>
        </p:nvSpPr>
        <p:spPr>
          <a:xfrm>
            <a:off x="7630272" y="2966040"/>
            <a:ext cx="885798" cy="3568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940ECB7-E6E6-E737-5883-01446011FA47}"/>
              </a:ext>
            </a:extLst>
          </p:cNvPr>
          <p:cNvSpPr/>
          <p:nvPr/>
        </p:nvSpPr>
        <p:spPr>
          <a:xfrm>
            <a:off x="4046242" y="4634859"/>
            <a:ext cx="885798" cy="39288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F8104CE-CE90-25D4-F1D1-CB49FEF020DB}"/>
              </a:ext>
            </a:extLst>
          </p:cNvPr>
          <p:cNvSpPr/>
          <p:nvPr/>
        </p:nvSpPr>
        <p:spPr>
          <a:xfrm>
            <a:off x="7646642" y="4634858"/>
            <a:ext cx="885798" cy="39288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A9D7B81D-F45E-F0C6-FB7C-BEEBB42133A8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 flipV="1">
            <a:off x="4932040" y="4831299"/>
            <a:ext cx="2714602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>
            <a:extLst>
              <a:ext uri="{FF2B5EF4-FFF2-40B4-BE49-F238E27FC236}">
                <a16:creationId xmlns:a16="http://schemas.microsoft.com/office/drawing/2014/main" id="{AE4AE5AF-4A44-53E8-08A0-F4776C78D22E}"/>
              </a:ext>
            </a:extLst>
          </p:cNvPr>
          <p:cNvSpPr/>
          <p:nvPr/>
        </p:nvSpPr>
        <p:spPr>
          <a:xfrm>
            <a:off x="4046242" y="5026687"/>
            <a:ext cx="885798" cy="3568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E15BBE37-71BE-AABA-6291-0D8A3DD19EDA}"/>
              </a:ext>
            </a:extLst>
          </p:cNvPr>
          <p:cNvSpPr/>
          <p:nvPr/>
        </p:nvSpPr>
        <p:spPr>
          <a:xfrm>
            <a:off x="7636368" y="5026686"/>
            <a:ext cx="885798" cy="3568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10E9F3BB-27CC-2C79-BD86-32F83FBE6D99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 flipV="1">
            <a:off x="4932040" y="5205088"/>
            <a:ext cx="2704328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>
            <a:extLst>
              <a:ext uri="{FF2B5EF4-FFF2-40B4-BE49-F238E27FC236}">
                <a16:creationId xmlns:a16="http://schemas.microsoft.com/office/drawing/2014/main" id="{EC4A6102-2F0A-3798-E019-1850264966FA}"/>
              </a:ext>
            </a:extLst>
          </p:cNvPr>
          <p:cNvSpPr/>
          <p:nvPr/>
        </p:nvSpPr>
        <p:spPr>
          <a:xfrm>
            <a:off x="4046242" y="5376452"/>
            <a:ext cx="885798" cy="3568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05835341-7881-EDDE-F950-997B79BE7759}"/>
              </a:ext>
            </a:extLst>
          </p:cNvPr>
          <p:cNvSpPr/>
          <p:nvPr/>
        </p:nvSpPr>
        <p:spPr>
          <a:xfrm>
            <a:off x="7656277" y="5376452"/>
            <a:ext cx="885798" cy="3568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78C7403-BB60-094E-1A10-E9EDC5FE462D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4932040" y="5554854"/>
            <a:ext cx="2724237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ângulo 35">
            <a:extLst>
              <a:ext uri="{FF2B5EF4-FFF2-40B4-BE49-F238E27FC236}">
                <a16:creationId xmlns:a16="http://schemas.microsoft.com/office/drawing/2014/main" id="{D48FD73B-E019-3F15-37D7-A41526D50C2B}"/>
              </a:ext>
            </a:extLst>
          </p:cNvPr>
          <p:cNvSpPr/>
          <p:nvPr/>
        </p:nvSpPr>
        <p:spPr>
          <a:xfrm>
            <a:off x="7630272" y="5376452"/>
            <a:ext cx="885798" cy="3568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25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6" grpId="0" animBg="1"/>
      <p:bldP spid="17" grpId="0" animBg="1"/>
      <p:bldP spid="19" grpId="0" animBg="1"/>
      <p:bldP spid="20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Valores</a:t>
            </a:r>
            <a:r>
              <a:rPr lang="en-US" dirty="0"/>
              <a:t> de HC </a:t>
            </a:r>
            <a:r>
              <a:rPr lang="en-US" dirty="0" err="1"/>
              <a:t>considerando</a:t>
            </a:r>
            <a:r>
              <a:rPr lang="en-US" dirty="0"/>
              <a:t> BESS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37</a:t>
            </a:fld>
            <a:endParaRPr lang="pt-BR" altLang="en-US" dirty="0"/>
          </a:p>
        </p:txBody>
      </p:sp>
      <p:pic>
        <p:nvPicPr>
          <p:cNvPr id="12" name="Imagem 11">
            <a:hlinkClick r:id="rId3" action="ppaction://hlinksldjump"/>
            <a:extLst>
              <a:ext uri="{FF2B5EF4-FFF2-40B4-BE49-F238E27FC236}">
                <a16:creationId xmlns:a16="http://schemas.microsoft.com/office/drawing/2014/main" id="{EDB90E38-4C28-4612-1B7E-6E9BEAE4F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50" y="1257706"/>
            <a:ext cx="2951877" cy="2180284"/>
          </a:xfrm>
          <a:prstGeom prst="rect">
            <a:avLst/>
          </a:prstGeom>
        </p:spPr>
      </p:pic>
      <p:pic>
        <p:nvPicPr>
          <p:cNvPr id="16" name="Imagem 15">
            <a:hlinkClick r:id="rId5" action="ppaction://hlinksldjump"/>
            <a:extLst>
              <a:ext uri="{FF2B5EF4-FFF2-40B4-BE49-F238E27FC236}">
                <a16:creationId xmlns:a16="http://schemas.microsoft.com/office/drawing/2014/main" id="{9FC1109F-475B-48AD-6DB5-BEDDDF1C62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6473" y="1257707"/>
            <a:ext cx="2951877" cy="2180283"/>
          </a:xfrm>
          <a:prstGeom prst="rect">
            <a:avLst/>
          </a:prstGeom>
        </p:spPr>
      </p:pic>
      <p:pic>
        <p:nvPicPr>
          <p:cNvPr id="18" name="Imagem 17">
            <a:hlinkClick r:id="rId7" action="ppaction://hlinksldjump"/>
            <a:extLst>
              <a:ext uri="{FF2B5EF4-FFF2-40B4-BE49-F238E27FC236}">
                <a16:creationId xmlns:a16="http://schemas.microsoft.com/office/drawing/2014/main" id="{6EF6AA73-FD6D-822D-BD9B-A795BC830B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6061" y="3782369"/>
            <a:ext cx="2951877" cy="218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922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 </a:t>
            </a:r>
            <a:r>
              <a:rPr lang="en-US" dirty="0"/>
              <a:t>– 15%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38</a:t>
            </a:fld>
            <a:endParaRPr lang="pt-BR" altLang="en-US" dirty="0"/>
          </a:p>
        </p:txBody>
      </p:sp>
      <p:sp>
        <p:nvSpPr>
          <p:cNvPr id="11" name="Retângulo: Cantos Arredondados 10">
            <a:hlinkClick r:id="rId4" action="ppaction://hlinksldjump"/>
            <a:extLst>
              <a:ext uri="{FF2B5EF4-FFF2-40B4-BE49-F238E27FC236}">
                <a16:creationId xmlns:a16="http://schemas.microsoft.com/office/drawing/2014/main" id="{DA2F199D-2831-FB7F-259C-4417943B2A36}"/>
              </a:ext>
            </a:extLst>
          </p:cNvPr>
          <p:cNvSpPr/>
          <p:nvPr/>
        </p:nvSpPr>
        <p:spPr>
          <a:xfrm>
            <a:off x="6553200" y="277813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  <p:pic>
        <p:nvPicPr>
          <p:cNvPr id="6" name="Imagem 5" descr="Gráfico&#10;&#10;Descrição gerada automaticamente">
            <a:extLst>
              <a:ext uri="{FF2B5EF4-FFF2-40B4-BE49-F238E27FC236}">
                <a16:creationId xmlns:a16="http://schemas.microsoft.com/office/drawing/2014/main" id="{4AFFB334-82DD-BDF9-7121-E378AF88D8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097" y="1764163"/>
            <a:ext cx="4325953" cy="3329673"/>
          </a:xfrm>
          <a:prstGeom prst="rect">
            <a:avLst/>
          </a:prstGeom>
        </p:spPr>
      </p:pic>
      <p:pic>
        <p:nvPicPr>
          <p:cNvPr id="8" name="Imagem 7" descr="Gráfico, Gráfico de linhas&#10;&#10;Descrição gerada automaticamente">
            <a:extLst>
              <a:ext uri="{FF2B5EF4-FFF2-40B4-BE49-F238E27FC236}">
                <a16:creationId xmlns:a16="http://schemas.microsoft.com/office/drawing/2014/main" id="{223C153A-18C0-4DFB-E584-74C2C1FB7A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50" y="1764162"/>
            <a:ext cx="4325953" cy="332967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5DCFE83-2C4F-52C9-89B7-D0749CD746EA}"/>
              </a:ext>
            </a:extLst>
          </p:cNvPr>
          <p:cNvSpPr txBox="1"/>
          <p:nvPr/>
        </p:nvSpPr>
        <p:spPr>
          <a:xfrm>
            <a:off x="1054004" y="13368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Controle VW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89CFBB-A28A-EACD-E7DC-4160049BD60F}"/>
              </a:ext>
            </a:extLst>
          </p:cNvPr>
          <p:cNvSpPr txBox="1"/>
          <p:nvPr/>
        </p:nvSpPr>
        <p:spPr>
          <a:xfrm>
            <a:off x="5433022" y="13368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Controle VV + VW</a:t>
            </a:r>
          </a:p>
        </p:txBody>
      </p:sp>
    </p:spTree>
    <p:extLst>
      <p:ext uri="{BB962C8B-B14F-4D97-AF65-F5344CB8AC3E}">
        <p14:creationId xmlns:p14="http://schemas.microsoft.com/office/powerpoint/2010/main" val="23716725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 </a:t>
            </a:r>
            <a:r>
              <a:rPr lang="en-US" dirty="0"/>
              <a:t>– 30%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39</a:t>
            </a:fld>
            <a:endParaRPr lang="pt-BR" altLang="en-US" dirty="0"/>
          </a:p>
        </p:txBody>
      </p:sp>
      <p:pic>
        <p:nvPicPr>
          <p:cNvPr id="12" name="Imagem 11" descr="Gráfico&#10;&#10;Descrição gerada automaticamente">
            <a:extLst>
              <a:ext uri="{FF2B5EF4-FFF2-40B4-BE49-F238E27FC236}">
                <a16:creationId xmlns:a16="http://schemas.microsoft.com/office/drawing/2014/main" id="{188BDD3A-0AEC-3F68-B79E-6ADDAA09A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099" y="1764161"/>
            <a:ext cx="4325953" cy="3329673"/>
          </a:xfrm>
          <a:prstGeom prst="rect">
            <a:avLst/>
          </a:prstGeom>
        </p:spPr>
      </p:pic>
      <p:pic>
        <p:nvPicPr>
          <p:cNvPr id="14" name="Imagem 13" descr="Gráfico&#10;&#10;Descrição gerada automaticamente">
            <a:extLst>
              <a:ext uri="{FF2B5EF4-FFF2-40B4-BE49-F238E27FC236}">
                <a16:creationId xmlns:a16="http://schemas.microsoft.com/office/drawing/2014/main" id="{09593A6E-82D5-61A9-18A1-74449B7B80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48" y="1764161"/>
            <a:ext cx="4325954" cy="3329674"/>
          </a:xfrm>
          <a:prstGeom prst="rect">
            <a:avLst/>
          </a:prstGeom>
        </p:spPr>
      </p:pic>
      <p:sp>
        <p:nvSpPr>
          <p:cNvPr id="15" name="Retângulo: Cantos Arredondados 14">
            <a:hlinkClick r:id="rId5" action="ppaction://hlinksldjump"/>
            <a:extLst>
              <a:ext uri="{FF2B5EF4-FFF2-40B4-BE49-F238E27FC236}">
                <a16:creationId xmlns:a16="http://schemas.microsoft.com/office/drawing/2014/main" id="{5C68D81A-FA1B-5F82-C063-60118CC6AEE3}"/>
              </a:ext>
            </a:extLst>
          </p:cNvPr>
          <p:cNvSpPr/>
          <p:nvPr/>
        </p:nvSpPr>
        <p:spPr>
          <a:xfrm>
            <a:off x="6553200" y="277813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159F10-A378-8678-63F7-E71ABB3AB053}"/>
              </a:ext>
            </a:extLst>
          </p:cNvPr>
          <p:cNvSpPr txBox="1"/>
          <p:nvPr/>
        </p:nvSpPr>
        <p:spPr>
          <a:xfrm>
            <a:off x="1054004" y="13368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Controle VW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3FD8EC5-8BD2-D56A-4761-A7BB57E4F15E}"/>
              </a:ext>
            </a:extLst>
          </p:cNvPr>
          <p:cNvSpPr txBox="1"/>
          <p:nvPr/>
        </p:nvSpPr>
        <p:spPr>
          <a:xfrm>
            <a:off x="5433022" y="13368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Controle VV + VW</a:t>
            </a:r>
          </a:p>
        </p:txBody>
      </p:sp>
    </p:spTree>
    <p:extLst>
      <p:ext uri="{BB962C8B-B14F-4D97-AF65-F5344CB8AC3E}">
        <p14:creationId xmlns:p14="http://schemas.microsoft.com/office/powerpoint/2010/main" val="476641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Perda de potência ativa </a:t>
            </a:r>
            <a:r>
              <a:rPr lang="en-US" dirty="0"/>
              <a:t>– 50%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40</a:t>
            </a:fld>
            <a:endParaRPr lang="pt-BR" altLang="en-US" dirty="0"/>
          </a:p>
        </p:txBody>
      </p:sp>
      <p:pic>
        <p:nvPicPr>
          <p:cNvPr id="5" name="Imagem 4" descr="Gráfico&#10;&#10;Descrição gerada automaticamente">
            <a:extLst>
              <a:ext uri="{FF2B5EF4-FFF2-40B4-BE49-F238E27FC236}">
                <a16:creationId xmlns:a16="http://schemas.microsoft.com/office/drawing/2014/main" id="{93A6A997-1293-44E9-59F0-B70E5B545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48" y="1764160"/>
            <a:ext cx="4325954" cy="3329674"/>
          </a:xfrm>
          <a:prstGeom prst="rect">
            <a:avLst/>
          </a:prstGeom>
        </p:spPr>
      </p:pic>
      <p:pic>
        <p:nvPicPr>
          <p:cNvPr id="7" name="Imagem 6" descr="Gráfico&#10;&#10;Descrição gerada automaticamente">
            <a:extLst>
              <a:ext uri="{FF2B5EF4-FFF2-40B4-BE49-F238E27FC236}">
                <a16:creationId xmlns:a16="http://schemas.microsoft.com/office/drawing/2014/main" id="{5907710D-D63D-6798-20D9-4DCEAA0BC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100" y="1764160"/>
            <a:ext cx="4325954" cy="3329674"/>
          </a:xfrm>
          <a:prstGeom prst="rect">
            <a:avLst/>
          </a:prstGeom>
        </p:spPr>
      </p:pic>
      <p:sp>
        <p:nvSpPr>
          <p:cNvPr id="8" name="Retângulo: Cantos Arredondados 7">
            <a:hlinkClick r:id="rId5" action="ppaction://hlinksldjump"/>
            <a:extLst>
              <a:ext uri="{FF2B5EF4-FFF2-40B4-BE49-F238E27FC236}">
                <a16:creationId xmlns:a16="http://schemas.microsoft.com/office/drawing/2014/main" id="{01D4EAEE-EF4C-A482-0C00-5FC6FF6E73B7}"/>
              </a:ext>
            </a:extLst>
          </p:cNvPr>
          <p:cNvSpPr/>
          <p:nvPr/>
        </p:nvSpPr>
        <p:spPr>
          <a:xfrm>
            <a:off x="6553200" y="277813"/>
            <a:ext cx="1728192" cy="648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Voltar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7339E6-AA9A-2627-69DA-5F2E2CF1A5D3}"/>
              </a:ext>
            </a:extLst>
          </p:cNvPr>
          <p:cNvSpPr txBox="1"/>
          <p:nvPr/>
        </p:nvSpPr>
        <p:spPr>
          <a:xfrm>
            <a:off x="1054004" y="13368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Controle VW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67842D-52B6-0B35-2CFF-D7769F99C675}"/>
              </a:ext>
            </a:extLst>
          </p:cNvPr>
          <p:cNvSpPr txBox="1"/>
          <p:nvPr/>
        </p:nvSpPr>
        <p:spPr>
          <a:xfrm>
            <a:off x="5433022" y="13368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Controle VV + VW</a:t>
            </a:r>
          </a:p>
        </p:txBody>
      </p:sp>
    </p:spTree>
    <p:extLst>
      <p:ext uri="{BB962C8B-B14F-4D97-AF65-F5344CB8AC3E}">
        <p14:creationId xmlns:p14="http://schemas.microsoft.com/office/powerpoint/2010/main" val="35161838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8. Conclusões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8974" y="1113755"/>
            <a:ext cx="7926052" cy="4630489"/>
          </a:xfrm>
        </p:spPr>
        <p:txBody>
          <a:bodyPr/>
          <a:lstStyle/>
          <a:p>
            <a:r>
              <a:rPr lang="pt-BR" dirty="0"/>
              <a:t>Desenvolvimento e validação da ferramenta;</a:t>
            </a:r>
          </a:p>
          <a:p>
            <a:r>
              <a:rPr lang="pt-BR" dirty="0"/>
              <a:t>Elevação do HC frente:</a:t>
            </a:r>
          </a:p>
          <a:p>
            <a:pPr lvl="1"/>
            <a:r>
              <a:rPr lang="pt-BR" dirty="0"/>
              <a:t>Controle de potência baseadas na tensão;</a:t>
            </a:r>
          </a:p>
          <a:p>
            <a:pPr lvl="2"/>
            <a:r>
              <a:rPr lang="pt-BR" dirty="0"/>
              <a:t>VV, VW e VV&amp;VW;</a:t>
            </a:r>
          </a:p>
          <a:p>
            <a:pPr lvl="1"/>
            <a:r>
              <a:rPr lang="pt-BR" dirty="0"/>
              <a:t>Elevação da redução de máxima de potência (VW);</a:t>
            </a:r>
          </a:p>
          <a:p>
            <a:pPr lvl="2"/>
            <a:r>
              <a:rPr lang="pt-BR" dirty="0"/>
              <a:t>15%, 30% e 50%;</a:t>
            </a:r>
          </a:p>
          <a:p>
            <a:r>
              <a:rPr lang="pt-BR" dirty="0"/>
              <a:t>Redução de inversores operando com controles:</a:t>
            </a:r>
          </a:p>
          <a:p>
            <a:pPr lvl="1"/>
            <a:r>
              <a:rPr lang="pt-BR" dirty="0"/>
              <a:t>100% das unidades para VV e 20-50% quando VW ou VV&amp;VW;</a:t>
            </a:r>
          </a:p>
          <a:p>
            <a:r>
              <a:rPr lang="pt-BR" dirty="0"/>
              <a:t>Relação do BESS em comparação ao PV:</a:t>
            </a:r>
          </a:p>
          <a:p>
            <a:pPr lvl="1"/>
            <a:r>
              <a:rPr lang="pt-BR" dirty="0"/>
              <a:t>13-57% para controle VW e 4-10% quando VV&amp;VW;</a:t>
            </a:r>
          </a:p>
          <a:p>
            <a:r>
              <a:rPr lang="pt-BR" dirty="0"/>
              <a:t>Operação conjunta foi mais efetiva na elevação do HC:</a:t>
            </a:r>
          </a:p>
          <a:p>
            <a:pPr lvl="1"/>
            <a:r>
              <a:rPr lang="pt-BR" dirty="0"/>
              <a:t>HCC de 4,39-5,83% no controle VW e 0,36-1,45% quando VV&amp;VW;</a:t>
            </a:r>
          </a:p>
          <a:p>
            <a:r>
              <a:rPr lang="pt-BR" dirty="0"/>
              <a:t>Elevação do HC quando considerado unidades BESS.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41</a:t>
            </a:fld>
            <a:endParaRPr lang="pt-BR" altLang="en-US" dirty="0"/>
          </a:p>
        </p:txBody>
      </p:sp>
    </p:spTree>
    <p:extLst>
      <p:ext uri="{BB962C8B-B14F-4D97-AF65-F5344CB8AC3E}">
        <p14:creationId xmlns:p14="http://schemas.microsoft.com/office/powerpoint/2010/main" val="318829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E3CDE6-FA98-40BF-832C-48A0DB7BB88E}" type="slidenum">
              <a:rPr lang="pt-BR" altLang="en-US"/>
              <a:pPr>
                <a:defRPr/>
              </a:pPr>
              <a:t>42</a:t>
            </a:fld>
            <a:endParaRPr lang="pt-BR" altLang="en-US" dirty="0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600" dirty="0"/>
              <a:t>Artigos Produzidos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08720"/>
            <a:ext cx="8229600" cy="5184576"/>
          </a:xfrm>
        </p:spPr>
        <p:txBody>
          <a:bodyPr/>
          <a:lstStyle/>
          <a:p>
            <a:pPr algn="just" eaLnBrk="1" hangingPunct="1"/>
            <a:r>
              <a:rPr lang="pt-BR" dirty="0"/>
              <a:t>Conferências Nacionais</a:t>
            </a:r>
          </a:p>
          <a:p>
            <a:pPr lvl="1" eaLnBrk="1" hangingPunct="1"/>
            <a:r>
              <a:rPr lang="pt-BR" sz="1600" dirty="0"/>
              <a:t>XXIV CBQEE, 2022: </a:t>
            </a:r>
          </a:p>
          <a:p>
            <a:pPr lvl="2" eaLnBrk="1" hangingPunct="1"/>
            <a:r>
              <a:rPr lang="pt-BR" sz="1400" b="0" i="0" dirty="0">
                <a:effectLst/>
                <a:latin typeface="Arial" panose="020B0604020202020204" pitchFamily="34" charset="0"/>
              </a:rPr>
              <a:t>TORQUATO, Hugo; ANTUNES, Hélio; BRAGA, Thiago; BRANDÃO, Danilo. Es-</a:t>
            </a:r>
            <a:br>
              <a:rPr lang="pt-BR" sz="1400" dirty="0"/>
            </a:br>
            <a:r>
              <a:rPr lang="pt-BR" sz="1400" b="0" i="0" dirty="0" err="1">
                <a:effectLst/>
                <a:latin typeface="Arial" panose="020B0604020202020204" pitchFamily="34" charset="0"/>
              </a:rPr>
              <a:t>tratégia</a:t>
            </a:r>
            <a:r>
              <a:rPr lang="pt-BR" sz="1400" b="0" i="0" dirty="0">
                <a:effectLst/>
                <a:latin typeface="Arial" panose="020B0604020202020204" pitchFamily="34" charset="0"/>
              </a:rPr>
              <a:t> para estimação de </a:t>
            </a:r>
            <a:r>
              <a:rPr lang="pt-BR" sz="1400" b="0" i="0" dirty="0" err="1">
                <a:effectLst/>
                <a:latin typeface="Arial" panose="020B0604020202020204" pitchFamily="34" charset="0"/>
              </a:rPr>
              <a:t>hosting</a:t>
            </a:r>
            <a:r>
              <a:rPr lang="pt-BR" sz="1400" b="0" i="0" dirty="0">
                <a:effectLst/>
                <a:latin typeface="Arial" panose="020B0604020202020204" pitchFamily="34" charset="0"/>
              </a:rPr>
              <a:t> </a:t>
            </a:r>
            <a:r>
              <a:rPr lang="pt-BR" sz="1400" b="0" i="0" dirty="0" err="1">
                <a:effectLst/>
                <a:latin typeface="Arial" panose="020B0604020202020204" pitchFamily="34" charset="0"/>
              </a:rPr>
              <a:t>capacity</a:t>
            </a:r>
            <a:r>
              <a:rPr lang="pt-BR" sz="1400" b="0" i="0" dirty="0">
                <a:effectLst/>
                <a:latin typeface="Arial" panose="020B0604020202020204" pitchFamily="34" charset="0"/>
              </a:rPr>
              <a:t> em redes de baixa tensão</a:t>
            </a:r>
            <a:br>
              <a:rPr lang="pt-BR" sz="1400" dirty="0"/>
            </a:br>
            <a:r>
              <a:rPr lang="pt-BR" sz="1400" b="0" i="0" dirty="0">
                <a:effectLst/>
                <a:latin typeface="Arial" panose="020B0604020202020204" pitchFamily="34" charset="0"/>
              </a:rPr>
              <a:t>usando </a:t>
            </a:r>
            <a:r>
              <a:rPr lang="pt-BR" sz="1400" b="0" i="0" dirty="0" err="1">
                <a:effectLst/>
                <a:latin typeface="Arial" panose="020B0604020202020204" pitchFamily="34" charset="0"/>
              </a:rPr>
              <a:t>opendss:inversores</a:t>
            </a:r>
            <a:r>
              <a:rPr lang="pt-BR" sz="1400" b="0" i="0" dirty="0">
                <a:effectLst/>
                <a:latin typeface="Arial" panose="020B0604020202020204" pitchFamily="34" charset="0"/>
              </a:rPr>
              <a:t> fotovoltaicos com serviços ancilares. In: CON-</a:t>
            </a:r>
            <a:br>
              <a:rPr lang="pt-BR" sz="1400" dirty="0"/>
            </a:br>
            <a:r>
              <a:rPr lang="pt-BR" sz="1400" b="0" i="0" dirty="0">
                <a:effectLst/>
                <a:latin typeface="Arial" panose="020B0604020202020204" pitchFamily="34" charset="0"/>
              </a:rPr>
              <a:t>GRESSO BRASILEIRO DE AUTOMÁTICA – CBA 2022, nº 24, 2022.</a:t>
            </a:r>
            <a:br>
              <a:rPr lang="pt-BR" sz="1400" dirty="0"/>
            </a:br>
            <a:r>
              <a:rPr lang="pt-BR" sz="1400" b="0" i="0" dirty="0" err="1">
                <a:effectLst/>
                <a:latin typeface="Arial" panose="020B0604020202020204" pitchFamily="34" charset="0"/>
              </a:rPr>
              <a:t>Fortaleza-CE</a:t>
            </a:r>
            <a:r>
              <a:rPr lang="pt-BR" sz="1600" dirty="0"/>
              <a:t>.</a:t>
            </a:r>
          </a:p>
          <a:p>
            <a:pPr lvl="2" algn="l"/>
            <a:r>
              <a:rPr lang="pt-BR" dirty="0">
                <a:effectLst/>
                <a:latin typeface="Arial" panose="020B0604020202020204" pitchFamily="34" charset="0"/>
              </a:rPr>
              <a:t>BRAGA, Thiago; ANTUNES, Hélio; TORQUATO, Hugo; BRANDÃO, Danilo. Modelagem e capacidade de hospedagem da rede de distribuição de baixa</a:t>
            </a:r>
            <a:br>
              <a:rPr lang="pt-BR" dirty="0">
                <a:effectLst/>
              </a:rPr>
            </a:br>
            <a:r>
              <a:rPr lang="pt-BR" dirty="0">
                <a:effectLst/>
                <a:latin typeface="Arial" panose="020B0604020202020204" pitchFamily="34" charset="0"/>
              </a:rPr>
              <a:t>tensão. </a:t>
            </a:r>
            <a:r>
              <a:rPr lang="pt-BR" dirty="0" err="1">
                <a:effectLst/>
                <a:latin typeface="Arial" panose="020B0604020202020204" pitchFamily="34" charset="0"/>
              </a:rPr>
              <a:t>In:CONGRESSO</a:t>
            </a:r>
            <a:r>
              <a:rPr lang="pt-BR" dirty="0">
                <a:effectLst/>
                <a:latin typeface="Arial" panose="020B0604020202020204" pitchFamily="34" charset="0"/>
              </a:rPr>
              <a:t> BRASILEIRO DE AUTOMÁTICA – CBA 2022,</a:t>
            </a:r>
            <a:br>
              <a:rPr lang="pt-BR" dirty="0">
                <a:effectLst/>
              </a:rPr>
            </a:br>
            <a:r>
              <a:rPr lang="pt-BR" dirty="0">
                <a:effectLst/>
                <a:latin typeface="Arial" panose="020B0604020202020204" pitchFamily="34" charset="0"/>
              </a:rPr>
              <a:t>nº 24, 2022. </a:t>
            </a:r>
            <a:r>
              <a:rPr lang="pt-BR" dirty="0" err="1">
                <a:effectLst/>
                <a:latin typeface="Arial" panose="020B0604020202020204" pitchFamily="34" charset="0"/>
              </a:rPr>
              <a:t>Fortaleza-CE</a:t>
            </a:r>
            <a:r>
              <a:rPr lang="pt-BR" dirty="0">
                <a:effectLst/>
                <a:latin typeface="Arial" panose="020B0604020202020204" pitchFamily="34" charset="0"/>
              </a:rPr>
              <a:t>.</a:t>
            </a:r>
          </a:p>
          <a:p>
            <a:pPr lvl="2" algn="l"/>
            <a:endParaRPr lang="pt-BR" dirty="0">
              <a:effectLst/>
            </a:endParaRPr>
          </a:p>
          <a:p>
            <a:r>
              <a:rPr lang="pt-BR" dirty="0"/>
              <a:t>Artigo em Desenvolvimento</a:t>
            </a:r>
          </a:p>
          <a:p>
            <a:pPr lvl="1" algn="l"/>
            <a:r>
              <a:rPr lang="en-US" sz="1600" dirty="0">
                <a:effectLst/>
              </a:rPr>
              <a:t>“Increased rooftop PV hosting capacity using distributed battery energy storage</a:t>
            </a:r>
            <a:br>
              <a:rPr lang="en-US" sz="1600" dirty="0">
                <a:effectLst/>
              </a:rPr>
            </a:br>
            <a:r>
              <a:rPr lang="en-US" sz="1600" dirty="0">
                <a:effectLst/>
              </a:rPr>
              <a:t>systems.”</a:t>
            </a:r>
          </a:p>
          <a:p>
            <a:pPr marL="0" indent="0">
              <a:buNone/>
            </a:pP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6713799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546F88-94F2-4E3E-BEDA-2E8C88F63EE8}" type="slidenum">
              <a:rPr lang="pt-BR" altLang="en-US"/>
              <a:pPr>
                <a:defRPr/>
              </a:pPr>
              <a:t>43</a:t>
            </a:fld>
            <a:endParaRPr lang="pt-BR" altLang="en-US" dirty="0"/>
          </a:p>
        </p:txBody>
      </p:sp>
      <p:sp>
        <p:nvSpPr>
          <p:cNvPr id="66563" name="Text Box 5"/>
          <p:cNvSpPr txBox="1">
            <a:spLocks noChangeArrowheads="1"/>
          </p:cNvSpPr>
          <p:nvPr/>
        </p:nvSpPr>
        <p:spPr bwMode="auto">
          <a:xfrm>
            <a:off x="502692" y="2636912"/>
            <a:ext cx="821925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800" dirty="0">
                <a:solidFill>
                  <a:schemeClr val="tx2"/>
                </a:solidFill>
              </a:rPr>
              <a:t>Obrigado pela atenção</a:t>
            </a:r>
          </a:p>
          <a:p>
            <a:pPr algn="ctr" eaLnBrk="1" hangingPunct="1">
              <a:spcBef>
                <a:spcPct val="50000"/>
              </a:spcBef>
            </a:pPr>
            <a:r>
              <a:rPr lang="pt-BR" altLang="pt-BR" sz="2800" dirty="0">
                <a:solidFill>
                  <a:schemeClr val="tx2"/>
                </a:solidFill>
              </a:rPr>
              <a:t>Fim!</a:t>
            </a:r>
          </a:p>
          <a:p>
            <a:pPr algn="ctr" eaLnBrk="1" hangingPunct="1">
              <a:spcBef>
                <a:spcPct val="50000"/>
              </a:spcBef>
            </a:pPr>
            <a:r>
              <a:rPr lang="pt-BR" altLang="pt-BR" sz="2800" dirty="0">
                <a:solidFill>
                  <a:schemeClr val="tx2"/>
                </a:solidFill>
              </a:rPr>
              <a:t>Contato: hugotorquato@ufmg.br</a:t>
            </a:r>
          </a:p>
        </p:txBody>
      </p:sp>
    </p:spTree>
    <p:extLst>
      <p:ext uri="{BB962C8B-B14F-4D97-AF65-F5344CB8AC3E}">
        <p14:creationId xmlns:p14="http://schemas.microsoft.com/office/powerpoint/2010/main" val="19642787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8. Prostas de continuidade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8974" y="1736812"/>
            <a:ext cx="7926052" cy="33843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dirty="0"/>
              <a:t>Incorporar as unidades BESS na simulação e determinar a operação, de forma otimizada, em uma operação em </a:t>
            </a:r>
            <a:r>
              <a:rPr lang="pt-BR" dirty="0" err="1"/>
              <a:t>microrrede</a:t>
            </a:r>
            <a:r>
              <a:rPr lang="pt-BR" dirty="0"/>
              <a:t>;</a:t>
            </a:r>
          </a:p>
          <a:p>
            <a:pPr>
              <a:lnSpc>
                <a:spcPct val="150000"/>
              </a:lnSpc>
            </a:pPr>
            <a:r>
              <a:rPr lang="pt-BR" dirty="0"/>
              <a:t>Melhorar a convergência na identificação do HC: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Ajustando o incremento de potência da rede;</a:t>
            </a:r>
          </a:p>
          <a:p>
            <a:pPr lvl="1">
              <a:lnSpc>
                <a:spcPct val="150000"/>
              </a:lnSpc>
            </a:pPr>
            <a:r>
              <a:rPr lang="pt-BR" dirty="0"/>
              <a:t>Operação em </a:t>
            </a:r>
            <a:r>
              <a:rPr lang="pt-BR" i="1" dirty="0" err="1"/>
              <a:t>multi-thread</a:t>
            </a:r>
            <a:r>
              <a:rPr lang="pt-BR" dirty="0"/>
              <a:t>.</a:t>
            </a:r>
          </a:p>
          <a:p>
            <a:pPr>
              <a:lnSpc>
                <a:spcPct val="150000"/>
              </a:lnSpc>
            </a:pPr>
            <a:r>
              <a:rPr lang="pt-BR" dirty="0"/>
              <a:t>Elevar a abrangência das análises avaliando outras redes de baixa tensão;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44</a:t>
            </a:fld>
            <a:endParaRPr lang="pt-BR" altLang="en-US" dirty="0"/>
          </a:p>
        </p:txBody>
      </p:sp>
    </p:spTree>
    <p:extLst>
      <p:ext uri="{BB962C8B-B14F-4D97-AF65-F5344CB8AC3E}">
        <p14:creationId xmlns:p14="http://schemas.microsoft.com/office/powerpoint/2010/main" val="19382771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96112AE-6E6D-2AD6-DE58-38E2BB77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8E970F-0FB5-4341-B7BD-0C6D2EC74EF0}" type="slidenum">
              <a:rPr lang="pt-BR" altLang="en-US" smtClean="0"/>
              <a:pPr>
                <a:defRPr/>
              </a:pPr>
              <a:t>45</a:t>
            </a:fld>
            <a:endParaRPr lang="pt-BR" altLang="en-US" dirty="0"/>
          </a:p>
        </p:txBody>
      </p:sp>
    </p:spTree>
    <p:extLst>
      <p:ext uri="{BB962C8B-B14F-4D97-AF65-F5344CB8AC3E}">
        <p14:creationId xmlns:p14="http://schemas.microsoft.com/office/powerpoint/2010/main" val="2371933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Armazenador de Energia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46</a:t>
            </a:fld>
            <a:endParaRPr lang="pt-BR" altLang="en-US" dirty="0"/>
          </a:p>
        </p:txBody>
      </p:sp>
      <p:pic>
        <p:nvPicPr>
          <p:cNvPr id="5" name="Imagem 4" descr="Gráfico, Gráfico de cascata&#10;&#10;Descrição gerada automaticamente">
            <a:extLst>
              <a:ext uri="{FF2B5EF4-FFF2-40B4-BE49-F238E27FC236}">
                <a16:creationId xmlns:a16="http://schemas.microsoft.com/office/drawing/2014/main" id="{2B24442B-B443-D704-F5B0-C496CAA54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157464"/>
            <a:ext cx="5280248" cy="454307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C62A186-B7AE-8AB2-A3FE-C63BC055498D}"/>
              </a:ext>
            </a:extLst>
          </p:cNvPr>
          <p:cNvSpPr/>
          <p:nvPr/>
        </p:nvSpPr>
        <p:spPr>
          <a:xfrm>
            <a:off x="5004048" y="3429000"/>
            <a:ext cx="648072" cy="151216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4685E0B-B6AA-1FD8-BFA4-4A0B10AB554A}"/>
              </a:ext>
            </a:extLst>
          </p:cNvPr>
          <p:cNvSpPr/>
          <p:nvPr/>
        </p:nvSpPr>
        <p:spPr>
          <a:xfrm>
            <a:off x="3324200" y="3429000"/>
            <a:ext cx="648072" cy="151216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13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Box </a:t>
            </a:r>
            <a:r>
              <a:rPr lang="pt-BR" dirty="0" err="1"/>
              <a:t>Plot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47</a:t>
            </a:fld>
            <a:endParaRPr lang="pt-BR" alt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5327A23-22B3-7247-102A-224F2DF50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688" y="1772816"/>
            <a:ext cx="2064624" cy="275642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062D621-BA99-0A84-6732-9C82F591F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192" y="1772816"/>
            <a:ext cx="2064624" cy="2756424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D0CE6AD-9942-F363-8AC7-1B441D76C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84" y="1766828"/>
            <a:ext cx="2064624" cy="275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Logica proposta – Processamento de Dados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48</a:t>
            </a:fld>
            <a:endParaRPr lang="pt-BR" altLang="en-US" dirty="0"/>
          </a:p>
        </p:txBody>
      </p:sp>
      <p:pic>
        <p:nvPicPr>
          <p:cNvPr id="10" name="Imagem 9" descr="Diagrama&#10;&#10;Descrição gerada automaticamente">
            <a:extLst>
              <a:ext uri="{FF2B5EF4-FFF2-40B4-BE49-F238E27FC236}">
                <a16:creationId xmlns:a16="http://schemas.microsoft.com/office/drawing/2014/main" id="{437BA82E-3DEA-A9A9-2FFD-61831FDFB5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16" y="1831021"/>
            <a:ext cx="7884368" cy="319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783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Dados de HC - </a:t>
            </a:r>
            <a:r>
              <a:rPr lang="en-US" dirty="0" err="1"/>
              <a:t>Comparação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49</a:t>
            </a:fld>
            <a:endParaRPr lang="pt-BR" alt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D8D762F-F27A-30EE-185B-1299EAFDD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74" y="1118370"/>
            <a:ext cx="7245052" cy="462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708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Disposição</a:t>
            </a:r>
            <a:r>
              <a:rPr lang="en-US" dirty="0"/>
              <a:t> das cargas </a:t>
            </a:r>
            <a:r>
              <a:rPr lang="en-US" dirty="0" err="1"/>
              <a:t>na</a:t>
            </a:r>
            <a:r>
              <a:rPr lang="en-US" dirty="0"/>
              <a:t> rede</a:t>
            </a:r>
            <a:br>
              <a:rPr lang="en-US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50</a:t>
            </a:fld>
            <a:endParaRPr lang="pt-BR" altLang="en-US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5C269CC-B618-BD17-1F9C-9AE4D6BD1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97" y="1125108"/>
            <a:ext cx="4228131" cy="329588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A29A926-7B50-1EBD-0C16-699B3C8A6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073" y="1124744"/>
            <a:ext cx="4227842" cy="3295880"/>
          </a:xfrm>
          <a:prstGeom prst="rect">
            <a:avLst/>
          </a:prstGeom>
        </p:spPr>
      </p:pic>
      <p:graphicFrame>
        <p:nvGraphicFramePr>
          <p:cNvPr id="11" name="Tabela 11">
            <a:extLst>
              <a:ext uri="{FF2B5EF4-FFF2-40B4-BE49-F238E27FC236}">
                <a16:creationId xmlns:a16="http://schemas.microsoft.com/office/drawing/2014/main" id="{E535C9EB-156C-C6D0-EBC7-13176E2C3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569232"/>
              </p:ext>
            </p:extLst>
          </p:nvPr>
        </p:nvGraphicFramePr>
        <p:xfrm>
          <a:off x="1067780" y="4961291"/>
          <a:ext cx="70084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110">
                  <a:extLst>
                    <a:ext uri="{9D8B030D-6E8A-4147-A177-3AD203B41FA5}">
                      <a16:colId xmlns:a16="http://schemas.microsoft.com/office/drawing/2014/main" val="3831341594"/>
                    </a:ext>
                  </a:extLst>
                </a:gridCol>
                <a:gridCol w="1752110">
                  <a:extLst>
                    <a:ext uri="{9D8B030D-6E8A-4147-A177-3AD203B41FA5}">
                      <a16:colId xmlns:a16="http://schemas.microsoft.com/office/drawing/2014/main" val="3118053048"/>
                    </a:ext>
                  </a:extLst>
                </a:gridCol>
                <a:gridCol w="1752110">
                  <a:extLst>
                    <a:ext uri="{9D8B030D-6E8A-4147-A177-3AD203B41FA5}">
                      <a16:colId xmlns:a16="http://schemas.microsoft.com/office/drawing/2014/main" val="3135782695"/>
                    </a:ext>
                  </a:extLst>
                </a:gridCol>
                <a:gridCol w="1752110">
                  <a:extLst>
                    <a:ext uri="{9D8B030D-6E8A-4147-A177-3AD203B41FA5}">
                      <a16:colId xmlns:a16="http://schemas.microsoft.com/office/drawing/2014/main" val="318307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Fase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Fase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Fase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80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Num. Cargas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244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0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Volume do banco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51</a:t>
            </a:fld>
            <a:endParaRPr lang="pt-BR" altLang="en-US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F9474C9-C077-2990-D6C7-F9215762C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816" y="891482"/>
            <a:ext cx="5772368" cy="5075035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6C82C00-4D86-E9A0-AE7D-5B4AAC523194}"/>
              </a:ext>
            </a:extLst>
          </p:cNvPr>
          <p:cNvSpPr/>
          <p:nvPr/>
        </p:nvSpPr>
        <p:spPr>
          <a:xfrm>
            <a:off x="5148064" y="5589240"/>
            <a:ext cx="2133600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8CD45E9-A401-4B6C-336F-D5F190AA75D3}"/>
              </a:ext>
            </a:extLst>
          </p:cNvPr>
          <p:cNvSpPr/>
          <p:nvPr/>
        </p:nvSpPr>
        <p:spPr>
          <a:xfrm>
            <a:off x="5157588" y="5805264"/>
            <a:ext cx="2133600" cy="161253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402E73A-A11D-1E25-22AE-F32F900B271A}"/>
              </a:ext>
            </a:extLst>
          </p:cNvPr>
          <p:cNvSpPr/>
          <p:nvPr/>
        </p:nvSpPr>
        <p:spPr>
          <a:xfrm>
            <a:off x="1773214" y="3766468"/>
            <a:ext cx="5589984" cy="11658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65C1FA8-6D79-BF99-7853-E56E302E5CAC}"/>
              </a:ext>
            </a:extLst>
          </p:cNvPr>
          <p:cNvSpPr/>
          <p:nvPr/>
        </p:nvSpPr>
        <p:spPr>
          <a:xfrm>
            <a:off x="1777979" y="3888485"/>
            <a:ext cx="5589984" cy="11658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4099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BESS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15885-B0F6-4545-A355-7190B4A52865}" type="slidenum">
              <a:rPr lang="pt-BR" altLang="en-US" smtClean="0"/>
              <a:pPr>
                <a:defRPr/>
              </a:pPr>
              <a:t>52</a:t>
            </a:fld>
            <a:endParaRPr lang="pt-BR" alt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9E4CDE-F919-0354-BE5F-4C7F2B499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814400"/>
            <a:ext cx="3760265" cy="52292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68A4ED3-5464-9BAE-F5B0-3E0559749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31" y="1498476"/>
            <a:ext cx="4490256" cy="386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38863"/>
      </p:ext>
    </p:extLst>
  </p:cSld>
  <p:clrMapOvr>
    <a:masterClrMapping/>
  </p:clrMapOvr>
</p:sld>
</file>

<file path=ppt/theme/theme1.xml><?xml version="1.0" encoding="utf-8"?>
<a:theme xmlns:a="http://schemas.openxmlformats.org/drawingml/2006/main" name="Borda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37005</TotalTime>
  <Words>3752</Words>
  <Application>Microsoft Office PowerPoint</Application>
  <PresentationFormat>Apresentação na tela (4:3)</PresentationFormat>
  <Paragraphs>1050</Paragraphs>
  <Slides>52</Slides>
  <Notes>49</Notes>
  <HiddenSlides>15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58" baseType="lpstr">
      <vt:lpstr>Arial</vt:lpstr>
      <vt:lpstr>Calibri</vt:lpstr>
      <vt:lpstr>Cambria Math</vt:lpstr>
      <vt:lpstr>Garamond</vt:lpstr>
      <vt:lpstr>Wingdings</vt:lpstr>
      <vt:lpstr>Borda</vt:lpstr>
      <vt:lpstr>Apresentação do PowerPoint</vt:lpstr>
      <vt:lpstr>Sumário</vt:lpstr>
      <vt:lpstr>1. Objetivos</vt:lpstr>
      <vt:lpstr>2. Contextualização</vt:lpstr>
      <vt:lpstr>Estado da Arte</vt:lpstr>
      <vt:lpstr>3. Figuras de Mérito </vt:lpstr>
      <vt:lpstr>Limites operacionais</vt:lpstr>
      <vt:lpstr>Controles de potência</vt:lpstr>
      <vt:lpstr>Dimensionamento do BESS</vt:lpstr>
      <vt:lpstr>Dimensionamento do BESS - KPIs</vt:lpstr>
      <vt:lpstr>Arquitetura da Ferramenta</vt:lpstr>
      <vt:lpstr>Logica Proposta – Definição de termos</vt:lpstr>
      <vt:lpstr>Lógica proposta</vt:lpstr>
      <vt:lpstr>6. Caso de estudo, rede de baixa tensão </vt:lpstr>
      <vt:lpstr>Caso de estudo, rede de baixa tensão </vt:lpstr>
      <vt:lpstr>6. Resultados –Dados de HC </vt:lpstr>
      <vt:lpstr>Dados de HC – 15% </vt:lpstr>
      <vt:lpstr>Dados de HC – 30% </vt:lpstr>
      <vt:lpstr>Dados de HC – 50% </vt:lpstr>
      <vt:lpstr>Perda de potência ativa </vt:lpstr>
      <vt:lpstr>Perda de potência ativa – 15% </vt:lpstr>
      <vt:lpstr>Perda de potência ativa – 30% </vt:lpstr>
      <vt:lpstr>Perda de potência ativa – 50% </vt:lpstr>
      <vt:lpstr>Número de ativações por controle </vt:lpstr>
      <vt:lpstr>Perda de potência ativa </vt:lpstr>
      <vt:lpstr>Perda de potência ativa – 15% </vt:lpstr>
      <vt:lpstr>Perda de potência ativa – 30% </vt:lpstr>
      <vt:lpstr>Perda de potência ativa – 50% </vt:lpstr>
      <vt:lpstr>Dimensionamento dos bancos de baterias </vt:lpstr>
      <vt:lpstr>Box Plot Banco de Baterias </vt:lpstr>
      <vt:lpstr>Perda de potência ativa – 15% </vt:lpstr>
      <vt:lpstr>Perda de potência ativa – 30% </vt:lpstr>
      <vt:lpstr>Perda de potência ativa – 50% </vt:lpstr>
      <vt:lpstr>Indicadores BESS – E-Rate e BESSPVRatio </vt:lpstr>
      <vt:lpstr>Indicadores BESS – PVLoadRatio </vt:lpstr>
      <vt:lpstr>Valores de HC considerando BESS </vt:lpstr>
      <vt:lpstr>Valores de HC considerando BESS </vt:lpstr>
      <vt:lpstr>Perda de potência ativa – 15% </vt:lpstr>
      <vt:lpstr>Perda de potência ativa – 30% </vt:lpstr>
      <vt:lpstr>Perda de potência ativa – 50% </vt:lpstr>
      <vt:lpstr>8. Conclusões</vt:lpstr>
      <vt:lpstr>Artigos Produzidos</vt:lpstr>
      <vt:lpstr>Apresentação do PowerPoint</vt:lpstr>
      <vt:lpstr>8. Prostas de continuidade</vt:lpstr>
      <vt:lpstr>Apresentação do PowerPoint</vt:lpstr>
      <vt:lpstr>Armazenador de Energia</vt:lpstr>
      <vt:lpstr>Box Plot</vt:lpstr>
      <vt:lpstr>Logica proposta – Processamento de Dados</vt:lpstr>
      <vt:lpstr>Dados de HC - Comparação </vt:lpstr>
      <vt:lpstr>Disposição das cargas na rede </vt:lpstr>
      <vt:lpstr>Volume do banco</vt:lpstr>
      <vt:lpstr>Exemplos de BESS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helio</dc:creator>
  <cp:lastModifiedBy>Torquato, Hugo</cp:lastModifiedBy>
  <cp:revision>632</cp:revision>
  <dcterms:created xsi:type="dcterms:W3CDTF">2009-06-30T13:01:30Z</dcterms:created>
  <dcterms:modified xsi:type="dcterms:W3CDTF">2023-10-30T23:47:18Z</dcterms:modified>
</cp:coreProperties>
</file>